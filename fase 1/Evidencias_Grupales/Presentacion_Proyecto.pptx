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b0d4e6f2324cc7" /><Relationship Type="http://schemas.openxmlformats.org/officeDocument/2006/relationships/extended-properties" Target="/docProps/app.xml" Id="R09d40562ed864d12" /><Relationship Type="http://schemas.openxmlformats.org/officeDocument/2006/relationships/officeDocument" Target="/ppt/presentation.xml" Id="R400a15f729e04c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ee0b9f5dfe4ec3"/>
  </p:sldMasterIdLst>
  <p:notesMasterIdLst>
    <p:notesMasterId xmlns:r="http://schemas.openxmlformats.org/officeDocument/2006/relationships" r:id="R5eb4505d95fc4590"/>
  </p:notesMasterIdLst>
  <p:sldIdLst>
    <p:sldId xmlns:r="http://schemas.openxmlformats.org/officeDocument/2006/relationships" id="256" r:id="Re1d023bb691645a0"/>
    <p:sldId xmlns:r="http://schemas.openxmlformats.org/officeDocument/2006/relationships" id="257" r:id="R0c50148cdf694679"/>
    <p:sldId xmlns:r="http://schemas.openxmlformats.org/officeDocument/2006/relationships" id="258" r:id="Rb36928d350324544"/>
    <p:sldId xmlns:r="http://schemas.openxmlformats.org/officeDocument/2006/relationships" id="259" r:id="Rb80cc95583fa421b"/>
    <p:sldId xmlns:r="http://schemas.openxmlformats.org/officeDocument/2006/relationships" id="260" r:id="R169366590e854832"/>
    <p:sldId xmlns:r="http://schemas.openxmlformats.org/officeDocument/2006/relationships" id="261" r:id="R05ce3a8bd7f74534"/>
    <p:sldId xmlns:r="http://schemas.openxmlformats.org/officeDocument/2006/relationships" id="262" r:id="R454cf942acf748a6"/>
    <p:sldId xmlns:r="http://schemas.openxmlformats.org/officeDocument/2006/relationships" id="263" r:id="R9da8e8fcee63471b"/>
    <p:sldId xmlns:r="http://schemas.openxmlformats.org/officeDocument/2006/relationships" id="264" r:id="Rc109c894b4654eed"/>
    <p:sldId xmlns:r="http://schemas.openxmlformats.org/officeDocument/2006/relationships" id="265" r:id="Rff070cbcaabc42cb"/>
    <p:sldId xmlns:r="http://schemas.openxmlformats.org/officeDocument/2006/relationships" id="266" r:id="Rb714c4fa88b84aad"/>
    <p:sldId xmlns:r="http://schemas.openxmlformats.org/officeDocument/2006/relationships" id="267" r:id="R0e7ad346a434426c"/>
    <p:sldId xmlns:r="http://schemas.openxmlformats.org/officeDocument/2006/relationships" id="268" r:id="R1af422d72a5042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def1ebed46460d" /><Relationship Type="http://schemas.openxmlformats.org/officeDocument/2006/relationships/slideMaster" Target="/ppt/slideMasters/slideMaster1.xml" Id="R61ee0b9f5dfe4ec3" /><Relationship Type="http://schemas.openxmlformats.org/officeDocument/2006/relationships/notesMaster" Target="/ppt/notesMasters/notesMaster1.xml" Id="R5eb4505d95fc4590" /><Relationship Type="http://schemas.openxmlformats.org/officeDocument/2006/relationships/presProps" Target="/ppt/presProps.xml" Id="Rbbe31c26b9254fd0" /><Relationship Type="http://schemas.openxmlformats.org/officeDocument/2006/relationships/tableStyles" Target="/ppt/tableStyles.xml" Id="Ra97a308c58714240" /><Relationship Type="http://schemas.openxmlformats.org/officeDocument/2006/relationships/slide" Target="/ppt/slides/slide1.xml" Id="Re1d023bb691645a0" /><Relationship Type="http://schemas.openxmlformats.org/officeDocument/2006/relationships/slide" Target="/ppt/slides/slide2.xml" Id="R0c50148cdf694679" /><Relationship Type="http://schemas.openxmlformats.org/officeDocument/2006/relationships/slide" Target="/ppt/slides/slide3.xml" Id="Rb36928d350324544" /><Relationship Type="http://schemas.openxmlformats.org/officeDocument/2006/relationships/slide" Target="/ppt/slides/slide4.xml" Id="Rb80cc95583fa421b" /><Relationship Type="http://schemas.openxmlformats.org/officeDocument/2006/relationships/slide" Target="/ppt/slides/slide5.xml" Id="R169366590e854832" /><Relationship Type="http://schemas.openxmlformats.org/officeDocument/2006/relationships/slide" Target="/ppt/slides/slide6.xml" Id="R05ce3a8bd7f74534" /><Relationship Type="http://schemas.openxmlformats.org/officeDocument/2006/relationships/slide" Target="/ppt/slides/slide7.xml" Id="R454cf942acf748a6" /><Relationship Type="http://schemas.openxmlformats.org/officeDocument/2006/relationships/slide" Target="/ppt/slides/slide8.xml" Id="R9da8e8fcee63471b" /><Relationship Type="http://schemas.openxmlformats.org/officeDocument/2006/relationships/slide" Target="/ppt/slides/slide9.xml" Id="Rc109c894b4654eed" /><Relationship Type="http://schemas.openxmlformats.org/officeDocument/2006/relationships/slide" Target="/ppt/slides/slide10.xml" Id="Rff070cbcaabc42cb" /><Relationship Type="http://schemas.openxmlformats.org/officeDocument/2006/relationships/slide" Target="/ppt/slides/slide11.xml" Id="Rb714c4fa88b84aad" /><Relationship Type="http://schemas.openxmlformats.org/officeDocument/2006/relationships/slide" Target="/ppt/slides/slide12.xml" Id="R0e7ad346a434426c" /><Relationship Type="http://schemas.openxmlformats.org/officeDocument/2006/relationships/slide" Target="/ppt/slides/slide13.xml" Id="R1af422d72a5042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1fb59c1cfe46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60c7ba6cfc4ed1" /><Relationship Type="http://schemas.openxmlformats.org/officeDocument/2006/relationships/notesMaster" Target="/ppt/notesMasters/notesMaster1.xml" Id="R5e659526c60143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abb1a11a564194" /><Relationship Type="http://schemas.openxmlformats.org/officeDocument/2006/relationships/notesMaster" Target="/ppt/notesMasters/notesMaster1.xml" Id="R2ee30626f7464d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3ef4746c0c495b" /><Relationship Type="http://schemas.openxmlformats.org/officeDocument/2006/relationships/notesMaster" Target="/ppt/notesMasters/notesMaster1.xml" Id="R104cd5bd51c444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859da61a0940cf" /><Relationship Type="http://schemas.openxmlformats.org/officeDocument/2006/relationships/notesMaster" Target="/ppt/notesMasters/notesMaster1.xml" Id="Rc66677af0cd947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c275c78b3f4d1e" /><Relationship Type="http://schemas.openxmlformats.org/officeDocument/2006/relationships/notesMaster" Target="/ppt/notesMasters/notesMaster1.xml" Id="Rb671663f999045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3b2ae517a946c6" /><Relationship Type="http://schemas.openxmlformats.org/officeDocument/2006/relationships/notesMaster" Target="/ppt/notesMasters/notesMaster1.xml" Id="Rf717bb285a7845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151971028f42db" /><Relationship Type="http://schemas.openxmlformats.org/officeDocument/2006/relationships/notesMaster" Target="/ppt/notesMasters/notesMaster1.xml" Id="R21cdd16e6c6840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df9c2c69b546e9" /><Relationship Type="http://schemas.openxmlformats.org/officeDocument/2006/relationships/notesMaster" Target="/ppt/notesMasters/notesMaster1.xml" Id="R8137cc74ae0a42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9fc91e45734b3a" /><Relationship Type="http://schemas.openxmlformats.org/officeDocument/2006/relationships/notesMaster" Target="/ppt/notesMasters/notesMaster1.xml" Id="R2611425676e346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ba8d675cdc4529" /><Relationship Type="http://schemas.openxmlformats.org/officeDocument/2006/relationships/notesMaster" Target="/ppt/notesMasters/notesMaster1.xml" Id="R033206d2336e4b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ee4420612043e2" /><Relationship Type="http://schemas.openxmlformats.org/officeDocument/2006/relationships/notesMaster" Target="/ppt/notesMasters/notesMaster1.xml" Id="R4b761f3e357f42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5883ba421548bb" /><Relationship Type="http://schemas.openxmlformats.org/officeDocument/2006/relationships/notesMaster" Target="/ppt/notesMasters/notesMaster1.xml" Id="R32c888b9932d49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e911cae66c4f46" /><Relationship Type="http://schemas.openxmlformats.org/officeDocument/2006/relationships/notesMaster" Target="/ppt/notesMasters/notesMaster1.xml" Id="R41f6559e613c48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necesidad de autonomía del huésped. NavInside no es un mapa estático: interpreta la ubicación y acompaña el recorrido.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ImageGen, imagen conceptual generada para esta presentación, 2026-09-01.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problema desde la experiencia real del resort: Hippocampus reúne varios niveles, edificios, servicios y recorridos. El GPS ubica al visitante en el entorno, pero no resuelve qué pasillo tomar ni cómo llegar a un servicio interior. El mapa y la fotografía muestran por qué la escala y la distribución del complejo hacen necesaria una guía interior activa.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Mapa de ubicación de Hippocampus Resort &amp; Club: material visual del proyecto NavInside, extraído de NavInside_Propuesta_Gerencia_Hippocampus_2026.pptx.</a:t>
            </a:r>
          </a:p>
          <a:p xmlns:a="http://schemas.openxmlformats.org/drawingml/2006/main">
            <a:r>
              <a:t>- Fotografía aérea real: Tripadvisor, https://dynamic-media-cdn.tripadvisor.com/media/photo-o/2f/64/9b/3f/caption.jpg?h=-1&amp;s=1&amp;w=1400 (consultada el 2026-09-03).</a:t>
            </a:r>
          </a:p>
          <a:p xmlns:a="http://schemas.openxmlformats.org/drawingml/2006/main">
            <a:r>
              <a:t>- Contexto del resort: sitio oficial Hippocampus Resort &amp; Club, https://hippocampus.cl/ (consultado el 2026-09-03).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el flujo de izquierda a derecha. La propuesta combina datos del edificio, estimación de ubicación y un motor de rutas en una sola experiencia.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Vincular la fundamentación con los criterios académicos: pertinencia, integración de competencias, evidencia y capacidad de transferencia. APT corresponde a Asignatura de Portafolio de Título.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  <a:p xmlns:a="http://schemas.openxmlformats.org/drawingml/2006/main">
            <a:r>
              <a:t>- https://diseno.duoc.cl/rutasformativas/2019/diseno-grafico/portafolio-de-titulo-29.html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primero el objetivo general y luego los cinco resultados específicos. Destacar que la validación es parte del producto, no una etapa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claramente alcance y escalabilidad. La versión 1.0 tiene límites concretos; la arquitectura permite reutilizar el núcleo sin reescribir el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  <a:p xmlns:a="http://schemas.openxmlformats.org/drawingml/2006/main">
            <a:r>
              <a:t>- Arquitectura_Sistema_NavInside.pdf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prioridad MoSCoW. Ocho épicas son indispensables para la experiencia de navegación; la administración avanzada se mantiene como Should.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Documento_Epicas_Usuario_NavInside.docx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Describir las tres zonas: usuarios e infraestructura, aplicación móvil y servicios de administración. API significa interfaz de programación de aplicaciones; HTTPS corresponde al protocolo seguro de transferencia web; SQL es lenguaje de consulta estructurado. Aclarar que las conexiones del diagrama no usan puntas de flecha y que el backend Supabase sigue siendo una propuesta.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Arquitectura_Sistema_NavInside.pdf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Destacar que el riesgo no está en el algoritmo, sino en la precisión de mapas, calibración, permisos y pruebas reales. La factibilidad depende de acceso coordinado al resort.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  <a:p xmlns:a="http://schemas.openxmlformats.org/drawingml/2006/main">
            <a:r>
              <a:t>- Arquitectura_Sistema_NavInside.pdf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Recalcar que se utiliza Kanban, no Scrum. Gonzalo Allende cumple el rol de líder del proyecto y coordina el flujo general. Los límites WIP evitan iniciar demasiado trabajo y hacen visibles los bloqueos. Cada integrante tiene un foco, pero la calidad es colectiva.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esta lámina como la evidencia de aplicación de Kanban en NavInside. Explicar el sistema pull, los límites WIP y la visualización de bloqueos. Las tarjetas son una representación del flujo de trabajo del proyecto; Kanban se utiliza como metodología central y no se trabaja por sprints.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plan como entregas incrementales, no como fases aisladas. Cada tramo termina con un resultado que puede revisarse en el tablero.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conectando valor y compromiso: autonomía para el usuario, alivio operativo y una base escalable. El siguiente hito concreto es la validación en terreno.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  <a:p xmlns:a="http://schemas.openxmlformats.org/drawingml/2006/main">
            <a:r>
              <a:t>- Arquitectura_Sistema_NavInside.pdf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a680ba89742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00d261cc844e8c" /><Relationship Type="http://schemas.openxmlformats.org/officeDocument/2006/relationships/slideLayout" Target="/ppt/slideLayouts/slideLayout1.xml" Id="R00771124d93c43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771124d93c43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ac60ddee64f05" /><Relationship Type="http://schemas.openxmlformats.org/officeDocument/2006/relationships/image" Target="/ppt/media/image.png" Id="R718f6acf8eb3475b" /><Relationship Type="http://schemas.openxmlformats.org/officeDocument/2006/relationships/image" Target="/ppt/media/image2.png" Id="R1679b6eaab5a4d76" /><Relationship Type="http://schemas.openxmlformats.org/officeDocument/2006/relationships/notesSlide" Target="/ppt/notesSlides/notesSlide1.xml" Id="Rddc22e0b42614e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4aaa6a65a419e" /><Relationship Type="http://schemas.openxmlformats.org/officeDocument/2006/relationships/image" Target="/ppt/media/image3.png" Id="R5371ad4489cc40f2" /><Relationship Type="http://schemas.openxmlformats.org/officeDocument/2006/relationships/image" Target="/ppt/media/image4.png" Id="Rd1e1e6fe39f04f1c" /><Relationship Type="http://schemas.openxmlformats.org/officeDocument/2006/relationships/image" Target="/ppt/media/image.jpeg" Id="R9ef72ef84c7a40b4" /><Relationship Type="http://schemas.openxmlformats.org/officeDocument/2006/relationships/notesSlide" Target="/ppt/notesSlides/notesSlide2.xml" Id="R444acebf59564e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2fda6db964518" /><Relationship Type="http://schemas.openxmlformats.org/officeDocument/2006/relationships/image" Target="/ppt/media/image5.png" Id="R116872c40ce04f04" /><Relationship Type="http://schemas.openxmlformats.org/officeDocument/2006/relationships/notesSlide" Target="/ppt/notesSlides/notesSlide3.xml" Id="R2248a62cb75743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8e487ce0c40a5" /><Relationship Type="http://schemas.openxmlformats.org/officeDocument/2006/relationships/image" Target="/ppt/media/image6.png" Id="Rcfca211885d74599" /><Relationship Type="http://schemas.openxmlformats.org/officeDocument/2006/relationships/notesSlide" Target="/ppt/notesSlides/notesSlide4.xml" Id="R4ed753a1ff9b4f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22262ca2d4931" /><Relationship Type="http://schemas.openxmlformats.org/officeDocument/2006/relationships/image" Target="/ppt/media/image7.png" Id="R9baa45c5f59641cc" /><Relationship Type="http://schemas.openxmlformats.org/officeDocument/2006/relationships/notesSlide" Target="/ppt/notesSlides/notesSlide5.xml" Id="R025d91af7c934f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679c290fa4af5" /><Relationship Type="http://schemas.openxmlformats.org/officeDocument/2006/relationships/image" Target="/ppt/media/image8.png" Id="R473d1814169e4043" /><Relationship Type="http://schemas.openxmlformats.org/officeDocument/2006/relationships/notesSlide" Target="/ppt/notesSlides/notesSlide6.xml" Id="Rc57d5c796e764a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a8c8090b049f0" /><Relationship Type="http://schemas.openxmlformats.org/officeDocument/2006/relationships/image" Target="/ppt/media/image9.png" Id="R4a962fb33d4249d1" /><Relationship Type="http://schemas.openxmlformats.org/officeDocument/2006/relationships/notesSlide" Target="/ppt/notesSlides/notesSlide7.xml" Id="Rab462e4d5f3f4d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d2e77050a436b" /><Relationship Type="http://schemas.openxmlformats.org/officeDocument/2006/relationships/image" Target="/ppt/media/image10.png" Id="Rd6b970cafcc647f4" /><Relationship Type="http://schemas.openxmlformats.org/officeDocument/2006/relationships/notesSlide" Target="/ppt/notesSlides/notesSlide8.xml" Id="R0d5ea25116bf41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7fe0032ed4c4c" /><Relationship Type="http://schemas.openxmlformats.org/officeDocument/2006/relationships/image" Target="/ppt/media/image11.png" Id="R889c10107d724e4a" /><Relationship Type="http://schemas.openxmlformats.org/officeDocument/2006/relationships/notesSlide" Target="/ppt/notesSlides/notesSlide9.xml" Id="R8a5728ea39134d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16d1ec40a4cbb" /><Relationship Type="http://schemas.openxmlformats.org/officeDocument/2006/relationships/image" Target="/ppt/media/image12.png" Id="R7c594dd121e14ba6" /><Relationship Type="http://schemas.openxmlformats.org/officeDocument/2006/relationships/notesSlide" Target="/ppt/notesSlides/notesSlide10.xml" Id="Rdcfc8fe8ffa349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3b56a13794b50" /><Relationship Type="http://schemas.openxmlformats.org/officeDocument/2006/relationships/image" Target="/ppt/media/image13.png" Id="R9a74fa624f344f4f" /><Relationship Type="http://schemas.openxmlformats.org/officeDocument/2006/relationships/notesSlide" Target="/ppt/notesSlides/notesSlide11.xml" Id="Rfc975788bb7a48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be192e3774f0c" /><Relationship Type="http://schemas.openxmlformats.org/officeDocument/2006/relationships/image" Target="/ppt/media/image14.png" Id="Rfac7f8abb7904996" /><Relationship Type="http://schemas.openxmlformats.org/officeDocument/2006/relationships/notesSlide" Target="/ppt/notesSlides/notesSlide12.xml" Id="Rc10303e5134744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20918c8ff4a74" /><Relationship Type="http://schemas.openxmlformats.org/officeDocument/2006/relationships/image" Target="/ppt/media/image15.png" Id="R9130f839bb954d7a" /><Relationship Type="http://schemas.openxmlformats.org/officeDocument/2006/relationships/notesSlide" Target="/ppt/notesSlides/notesSlide13.xml" Id="Rdc958732e1b842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5E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7BA22-2285-4449-91CD-467E6B04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3C3C2-E0A7-4650-93C2-9620CF6F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1840B-871A-4D41-8B25-F85A2E2B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E8011-FD1A-4094-B061-E7E50FAE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99A45"/>
                </a:solidFill>
              </a:defRPr>
            </a:pPr>
            <a:r>
              <a:rPr sz="1125" b="1" i="0">
                <a:solidFill>
                  <a:srgbClr val="C99A45"/>
                </a:solidFill>
              </a:rPr>
              <a:t>HIPPOCAMPUS RESORT &amp; CLUB  ×  NAVINSIDE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2F861-A8F1-4154-8283-316B5188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66775"/>
            <a:ext cx="2514600" cy="2952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f6acf8eb3475b"/>
          <a:stretch xmlns:a="http://schemas.openxmlformats.org/drawingml/2006/main"/>
        </p:blipFill>
        <p:spPr>
          <a:xfrm xmlns:a="http://schemas.openxmlformats.org/drawingml/2006/main">
            <a:off x="628650" y="1031391"/>
            <a:ext cx="2247900" cy="26235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69C8A-13BF-4477-9798-5BE1C072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00150"/>
            <a:ext cx="2524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902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2A3E"/>
                </a:solidFill>
              </a:defRPr>
            </a:pPr>
            <a:r>
              <a:rPr sz="2175" b="1" i="0">
                <a:solidFill>
                  <a:srgbClr val="102A3E"/>
                </a:solidFill>
              </a:rPr>
              <a:t>Navegación interior inteligente,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102A3E"/>
                </a:solidFill>
              </a:defRPr>
            </a:pPr>
            <a:r>
              <a:rPr sz="2175" b="1" i="0">
                <a:solidFill>
                  <a:srgbClr val="102A3E"/>
                </a:solidFill>
              </a:rPr>
              <a:t>accesible y multilingüe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394B4-DE99-40DC-8B90-10414D7B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86050"/>
            <a:ext cx="253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26A7A"/>
                </a:solidFill>
              </a:defRPr>
            </a:pPr>
            <a:r>
              <a:rPr sz="1425" b="0" i="0">
                <a:solidFill>
                  <a:srgbClr val="526A7A"/>
                </a:solidFill>
              </a:rPr>
              <a:t>Aplicación Android para orientar a huéspedes y trabajadores dentro de Hippocampus mediante mapas digitales, posicionamiento híbrido y rutas calculadas con A*.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CBA7A-2174-4C1E-8000-CE57D52F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14850"/>
            <a:ext cx="2209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797F1-57BF-465A-AEB3-956AAA49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339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PROYECTO APT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4A95D-6AEB-4BBD-B102-030D3F30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519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3F5E"/>
                </a:solidFill>
              </a:defRPr>
            </a:pPr>
            <a:r>
              <a:rPr sz="1200" b="1" i="0">
                <a:solidFill>
                  <a:srgbClr val="123F5E"/>
                </a:solidFill>
              </a:rPr>
              <a:t>Gonzalo Allende · Cristian Culipichun · Pedro Navarro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81723-91F6-4C67-9505-CEDFD027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7A8C98"/>
                </a:solidFill>
              </a:defRPr>
            </a:pPr>
            <a:r>
              <a:rPr sz="1125" b="0" i="0">
                <a:solidFill>
                  <a:srgbClr val="7A8C98"/>
                </a:solidFill>
              </a:rPr>
              <a:t>11 de agosto — 20 de diciembre de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DF6FE-B038-476B-A9B4-7A557331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3375"/>
            <a:ext cx="5638800" cy="619125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9b6eaab5a4d76"/>
          <a:srcRect xmlns:a="http://schemas.openxmlformats.org/drawingml/2006/main" l="0" t="19103" r="0" b="191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333375"/>
            <a:ext cx="5638800" cy="6191250"/>
          </a:xfrm>
          <a:prstGeom xmlns:a="http://schemas.openxmlformats.org/drawingml/2006/main" prst="roundRect">
            <a:avLst>
              <a:gd name="adj" fmla="val 405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66AA2-557B-4D95-9954-AA315812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743575"/>
            <a:ext cx="28003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7F9FE-9AD5-4AA5-BDE9-68BEFC2A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838825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Del plano a una guía activa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E7C46-0FFE-4243-A70B-872EDD28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112014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B34DF-5172-4BE0-8691-036F287C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8191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E61BD-E040-4F65-A2D4-26044183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629400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3A527-6639-4B6F-8CD6-AD8CD525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581775"/>
            <a:ext cx="1005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APT = Asignatura de Portafolio de Título · A* = algoritmo A estrella para búsqueda de rutas</a:t>
            </a:r>
          </a:p>
        </p:txBody>
      </p:sp>
    </p:spTree>
    <p:extLst>
      <p:ext uri="{BB962C8B-B14F-4D97-AF65-F5344CB8AC3E}">
        <p14:creationId xmlns:p14="http://schemas.microsoft.com/office/powerpoint/2010/main" val="1524234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5E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C0AE54-B4F4-485C-8D6E-D876E708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3CBAF-F70F-446F-9FC5-6464A23D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C5A9F-DBB7-4CDC-84C3-254A6F55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9A7ED-F408-4431-A218-80D70010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1782D-3349-40F1-9270-EA939DC1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Problema real: el GPS no guía dentro de Hippocampus</a:t>
            </a:r>
          </a:p>
        </p:txBody>
      </p:sp>
      <p:cxnSp>
        <p:nvCxnSpPr>
          <p:cNvPr id="110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82A91-64BC-45E7-A3B3-CAAF28C0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1ad4489cc40f2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B4C3E-0022-4999-ADBB-A8409180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C1464-292F-4E7E-8E17-B88832DE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A0D87-33DC-4C04-BEA4-76CDB2BD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4810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37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B2F49"/>
                </a:solidFill>
              </a:defRPr>
            </a:pPr>
            <a:r>
              <a:rPr sz="2325" b="1" i="0">
                <a:solidFill>
                  <a:srgbClr val="0B2F49"/>
                </a:solidFill>
              </a:rPr>
              <a:t>En Hippocampus, el GPS pierde precisión al ingresar a los edificios.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DEE69-E121-4EA8-9E05-98CFA92F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4810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831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26A7A"/>
                </a:solidFill>
              </a:defRPr>
            </a:pPr>
            <a:r>
              <a:rPr sz="1575" b="0" i="0">
                <a:solidFill>
                  <a:srgbClr val="526A7A"/>
                </a:solidFill>
              </a:rPr>
              <a:t>El complejo reúne niveles 1, 3, 4 y 5, edificios y servicios conectados. Sin una guía interior activa, el huésped debe interpretar planos, preguntar y corregir el camino.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AA0B2-3254-4763-B909-CDD6B855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14700"/>
            <a:ext cx="4810125" cy="781050"/>
          </a:xfrm>
          <a:prstGeom xmlns:a="http://schemas.openxmlformats.org/drawingml/2006/main" prst="roundRect">
            <a:avLst>
              <a:gd name="adj" fmla="val 10596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50017-8A78-4D95-9B90-3BB24821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25B7C6"/>
                </a:solidFill>
              </a:defRPr>
            </a:pPr>
            <a:r>
              <a:rPr sz="1275" b="1" i="0">
                <a:solidFill>
                  <a:srgbClr val="25B7C6"/>
                </a:solidFill>
              </a:rPr>
              <a:t>Problema real en Hippocampus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D8DE5-85B8-441F-9D66-19CC4571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Más consultas y demoras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Experiencia desigual y rutas accesibles difíciles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114C5-382F-43C2-B41A-44277887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66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D307F-BC98-43BF-81BE-EE6B6F20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859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EB7FB-BA87-49AD-BAA9-70F3962F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573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Varios niveles conectados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3E98F-FA2F-4656-B6DB-F8EFF609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Niveles 1, 3, 4 y 5 con accesos verticales.</a:t>
            </a:r>
          </a:p>
        </p:txBody>
      </p:sp>
      <p:cxnSp>
        <p:nvCxnSpPr>
          <p:cNvPr id="124" name=""/>
          <p:cNvCxnSpPr/>
          <p:nvPr/>
        </p:nvCxnSpPr>
        <p:spPr>
          <a:xfrm xmlns:a="http://schemas.openxmlformats.org/drawingml/2006/main">
            <a:off x="6162675" y="19431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6AECA-4315-48F2-9726-559231B9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52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DA1A58-6577-4410-A5D8-F0ADC468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717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15A45-426F-4881-A49A-B09705B6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Distribución difícil de interpretar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BC9EF-DB25-413C-8927-08413FB2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Pasillos, accesos y servicios no son evidentes al llegar.</a:t>
            </a:r>
          </a:p>
        </p:txBody>
      </p:sp>
      <p:cxnSp>
        <p:nvCxnSpPr>
          <p:cNvPr id="129" name=""/>
          <p:cNvCxnSpPr/>
          <p:nvPr/>
        </p:nvCxnSpPr>
        <p:spPr>
          <a:xfrm xmlns:a="http://schemas.openxmlformats.org/drawingml/2006/main">
            <a:off x="6162675" y="26289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7C9633-5154-4277-88E3-8F56B95E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38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EFDBD8-1E7C-4E43-B6F3-33465A08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5653D3-CC61-4E9E-8852-AB529A93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289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Idioma y accesibilidad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3AA9B7-E4E4-4910-8E37-E4FD679F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Se necesitan instrucciones claras y rutas sin barreras.</a:t>
            </a:r>
          </a:p>
        </p:txBody>
      </p:sp>
      <p:cxnSp>
        <p:nvCxnSpPr>
          <p:cNvPr id="134" name=""/>
          <p:cNvCxnSpPr/>
          <p:nvPr/>
        </p:nvCxnSpPr>
        <p:spPr>
          <a:xfrm xmlns:a="http://schemas.openxmlformats.org/drawingml/2006/main">
            <a:off x="6162675" y="33147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81BBF5-E7F3-4C50-8116-E7368787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24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831D0C-AB24-42D3-B839-28FBE94D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433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58DB86-576E-4934-A133-33A76B01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147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Conectividad variable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F71649-D248-47F4-A4CE-ED062451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7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La orientación no puede depender exclusivamente de Internet.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55A133-1816-46E7-80A7-1551D04D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44A088-1890-413D-82D2-B5696920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CFA960-0D62-4F1F-8100-FFEBEFC7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EC7FC8-AF78-4F46-B87D-4B00074F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GPS = Sistema de Posicionamiento Global</a:t>
            </a:r>
          </a:p>
        </p:txBody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1e6fe39f04f1c"/>
          <a:srcRect xmlns:a="http://schemas.openxmlformats.org/drawingml/2006/main" l="0" t="29911" r="0" b="299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" y="4191000"/>
            <a:ext cx="5334000" cy="1428750"/>
          </a:xfrm>
          <a:prstGeom xmlns:a="http://schemas.openxmlformats.org/drawingml/2006/main" prst="roundRect">
            <a:avLst>
              <a:gd name="adj" fmla="val 10667"/>
            </a:avLst>
          </a:prstGeom>
        </p:spPr>
      </p:pic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72ef84c7a40b4"/>
          <a:srcRect xmlns:a="http://schemas.openxmlformats.org/drawingml/2006/main" l="0" t="26206" r="0" b="262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191000"/>
            <a:ext cx="5334000" cy="1428750"/>
          </a:xfrm>
          <a:prstGeom xmlns:a="http://schemas.openxmlformats.org/drawingml/2006/main" prst="roundRect">
            <a:avLst>
              <a:gd name="adj" fmla="val 10667"/>
            </a:avLst>
          </a:prstGeom>
        </p:spPr>
      </p:pic>
      <p:sp>
        <p:nvSpPr>
          <p:cNvPr id="103" name="problem-map-caption">
            <a:extLst xmlns:a="http://schemas.openxmlformats.org/drawingml/2006/main">
              <a:ext uri="{FF2B5EF4-FFF2-40B4-BE49-F238E27FC236}">
                <a16:creationId xmlns:a16="http://schemas.microsoft.com/office/drawing/2014/main" id="{BC78CE47-A880-4E68-B36A-2E44826C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76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F49"/>
                </a:solidFill>
              </a:defRPr>
            </a:pPr>
            <a:r>
              <a:rPr sz="1125" b="1">
                <a:solidFill>
                  <a:srgbClr val="0B2F49"/>
                </a:solidFill>
              </a:rPr>
              <a:t>Mapa de ubicación del resort</a:t>
            </a:r>
          </a:p>
        </p:txBody>
      </p:sp>
      <p:sp>
        <p:nvSpPr>
          <p:cNvPr id="104" name="problem-photo-caption">
            <a:extLst xmlns:a="http://schemas.openxmlformats.org/drawingml/2006/main">
              <a:ext uri="{FF2B5EF4-FFF2-40B4-BE49-F238E27FC236}">
                <a16:creationId xmlns:a16="http://schemas.microsoft.com/office/drawing/2014/main" id="{7A945ED4-D584-4825-A7D1-62FEEC89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76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F49"/>
                </a:solidFill>
              </a:defRPr>
            </a:pPr>
            <a:r>
              <a:rPr sz="1125" b="1">
                <a:solidFill>
                  <a:srgbClr val="0B2F49"/>
                </a:solidFill>
              </a:rPr>
              <a:t>Vista aérea real · Concón</a:t>
            </a:r>
          </a:p>
        </p:txBody>
      </p:sp>
    </p:spTree>
    <p:extLst>
      <p:ext uri="{BB962C8B-B14F-4D97-AF65-F5344CB8AC3E}">
        <p14:creationId xmlns:p14="http://schemas.microsoft.com/office/powerpoint/2010/main" val="9310573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5E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A036AC-A813-4CCE-93ED-4E9D5536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B90A0-5AFC-43F4-A66D-83568BC5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C0090-7728-4E0A-89F1-4E28F49D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F95BA-92DF-4995-93D4-54CF1271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4968A-AF9D-4891-8DA5-08A47D0D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11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Descripción: NavInside convierte el plano en una guía activa</a:t>
            </a:r>
          </a:p>
        </p:txBody>
      </p:sp>
      <p:cxnSp>
        <p:nvCxnSpPr>
          <p:cNvPr id="71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A81D2-03C8-4C16-B00B-CAFE7234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872c40ce04f04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CA8DA-2AB9-421C-8AA6-01A3AC90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008BA-92E2-4609-B31B-7FA4AA3A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EA149-C9A0-4F30-8B88-264A8032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859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23F5E"/>
                </a:solidFill>
              </a:defRPr>
            </a:pPr>
            <a:r>
              <a:rPr sz="1725" b="1" i="0">
                <a:solidFill>
                  <a:srgbClr val="123F5E"/>
                </a:solidFill>
              </a:rPr>
              <a:t>La experiencia del usuario</a:t>
            </a:r>
          </a:p>
        </p:txBody>
      </p:sp>
      <p:cxnSp>
        <p:nvCxnSpPr>
          <p:cNvPr id="77" name=""/>
          <p:cNvCxnSpPr/>
          <p:nvPr/>
        </p:nvCxnSpPr>
        <p:spPr>
          <a:xfrm xmlns:a="http://schemas.openxmlformats.org/drawingml/2006/main">
            <a:off x="1066800" y="2466975"/>
            <a:ext cx="94678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D8E1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C98AF-4EA7-43F3-B7E5-611E5F17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91377-7338-4FDF-8B42-E8FA20D7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F0B2B-1863-4839-ADCA-12EBFB24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990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Ubicar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24BEB-B3CA-433F-BF39-33F94888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71850"/>
            <a:ext cx="180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Wi‑Fi, IMU, QR/NFC o selección manual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E17DC-9454-4F9E-BB3E-0ECC45E8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2E520-463F-4C73-A985-C0E16C02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621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6F6A2A-3C00-4EAB-9B1C-7E56CF57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90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Buscar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90305-E68D-44CE-A5BD-8EAE5AB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71850"/>
            <a:ext cx="180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Destino o punto de interés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3B48B5-9993-4737-8514-92952B08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48D04-5F08-4F7A-A465-D745D8F0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621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E056E-6A8E-4E3B-9C6F-9C4D39E3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90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Calcular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CCED21-5B86-4DD2-8922-CB22C51E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180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Grafo navegable y algoritmo A*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39EAAA-96E1-47EB-858A-C03980FC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43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07B019-6153-4082-9BF3-EE02502C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621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FEAD3A-3A2D-48B7-A1CF-9956B17D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990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Guiar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7930DD-E695-4A87-8993-79F8A850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180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Ruta visual e instrucciones paso a paso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B4DBBC-4672-4BFA-A8E6-68658714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43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8A1DB4-6816-4709-B7BE-9BA550D6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621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B5F974-A5D2-4C74-95F7-5EF62C58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990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Recalcular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0B4DB3-B2B8-478A-9129-060984CD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71850"/>
            <a:ext cx="180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Corrección ante desvíos o bloqueos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DF2AFA-FFAE-4194-855B-9B31B0E9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57725"/>
            <a:ext cx="11315700" cy="1323975"/>
          </a:xfrm>
          <a:prstGeom xmlns:a="http://schemas.openxmlformats.org/drawingml/2006/main" prst="roundRect">
            <a:avLst>
              <a:gd name="adj" fmla="val 11511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1D0710-9B5A-40FE-A04D-80F99D3D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25B7C6"/>
                </a:solidFill>
              </a:defRPr>
            </a:pPr>
            <a:r>
              <a:rPr sz="1275" b="1" i="0">
                <a:solidFill>
                  <a:srgbClr val="25B7C6"/>
                </a:solidFill>
              </a:rPr>
              <a:t>Núcleo funcional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57BD1A-612B-4219-83FA-3A10E42C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B2F49"/>
                </a:solidFill>
              </a:defRPr>
            </a:pPr>
            <a:r>
              <a:rPr sz="1425" b="1" i="0">
                <a:solidFill>
                  <a:srgbClr val="0B2F49"/>
                </a:solidFill>
              </a:rPr>
              <a:t>Mapas vectoriales + directorio de POI + posicionamiento híbrido + rutas multinivel + accesibilidad + tres idiomas + operación esencial sin conexión.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CE5470-4BEA-4F4D-A6FC-635C3035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6353F-7CEE-46D8-BA16-AD501FDD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838502-C4D3-4200-AFA0-9C4020E5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8F4E24-F608-420C-8F91-FBD82462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67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POI = punto de interés · IMU = unidad inercial</a:t>
            </a:r>
          </a:p>
          <a:p xmlns:a="http://schemas.openxmlformats.org/drawingml/2006/main">
            <a:pPr algn="l">
              <a:buNone/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QR = respuesta rápida · NFC = comunicación cercana · A* = algoritmo de rutas</a:t>
            </a:r>
          </a:p>
        </p:txBody>
      </p:sp>
    </p:spTree>
    <p:extLst>
      <p:ext uri="{BB962C8B-B14F-4D97-AF65-F5344CB8AC3E}">
        <p14:creationId xmlns:p14="http://schemas.microsoft.com/office/powerpoint/2010/main" val="1747837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5E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671769-FDB4-4ABA-9B6E-63D89D5F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CC927-D475-4242-921E-27E2A089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1A14F-DB23-442D-A515-1DB83B9D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B30D6-0037-43ED-9C5B-7FD379B7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82824-C5DB-4B2A-9DF8-9C0E6467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82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EC2C3-53E8-49C1-98B1-B87B595D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a211885d74599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EF7D3-155C-4222-838A-09A8E7F5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61D2A-4CB5-4066-86E2-3684738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1A004-5FDF-4855-8D83-249E068D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9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0B2F49"/>
                </a:solidFill>
              </a:defRPr>
            </a:pPr>
            <a:r>
              <a:rPr sz="2625" b="1" i="0">
                <a:solidFill>
                  <a:srgbClr val="0B2F49"/>
                </a:solidFill>
              </a:rPr>
              <a:t>Fundamentación APT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3F945-04A7-46A3-83D9-D76B5ECF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57325"/>
            <a:ext cx="11144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B2F49"/>
                </a:solidFill>
              </a:defRPr>
            </a:pPr>
            <a:r>
              <a:rPr sz="2025" b="1" i="0">
                <a:solidFill>
                  <a:srgbClr val="0B2F49"/>
                </a:solidFill>
              </a:rPr>
              <a:t>NavInside articula competencias técnicas y de gestión en un producto demostrable para una organización real.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817CB-57BF-4658-93D2-B9167ABB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574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PERTINENCIA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9A678-C4C5-4362-825B-AFFD9AB6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90825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02A3E"/>
                </a:solidFill>
              </a:defRPr>
            </a:pPr>
            <a:r>
              <a:rPr sz="1575" b="1" i="0">
                <a:solidFill>
                  <a:srgbClr val="102A3E"/>
                </a:solidFill>
              </a:rPr>
              <a:t>Responde a una necesidad concreta de orientación y autonomía dentro de Hippocampus Resort &amp; Club.</a:t>
            </a:r>
          </a:p>
        </p:txBody>
      </p:sp>
      <p:cxnSp>
        <p:nvCxnSpPr>
          <p:cNvPr id="91" name=""/>
          <p:cNvCxnSpPr/>
          <p:nvPr/>
        </p:nvCxnSpPr>
        <p:spPr>
          <a:xfrm xmlns:a="http://schemas.openxmlformats.org/drawingml/2006/main">
            <a:off x="5857875" y="245745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cxnSp>
        <p:nvCxnSpPr>
          <p:cNvPr id="92" name=""/>
          <p:cNvCxnSpPr/>
          <p:nvPr/>
        </p:nvCxnSpPr>
        <p:spPr>
          <a:xfrm xmlns:a="http://schemas.openxmlformats.org/drawingml/2006/main">
            <a:off x="438150" y="3781425"/>
            <a:ext cx="5095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17790-F93D-4C98-9E1B-B6D6804B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INTEGRACIÓN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A3A27-6C76-4C4F-A131-3008EB4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90825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02A3E"/>
                </a:solidFill>
              </a:defRPr>
            </a:pPr>
            <a:r>
              <a:rPr sz="1575" b="1" i="0">
                <a:solidFill>
                  <a:srgbClr val="102A3E"/>
                </a:solidFill>
              </a:rPr>
              <a:t>Combina desarrollo móvil, arquitectura, datos, algoritmos, sensores, experiencia de usuario (UX), accesibilidad y seguridad.</a:t>
            </a:r>
          </a:p>
        </p:txBody>
      </p:sp>
      <p:cxnSp>
        <p:nvCxnSpPr>
          <p:cNvPr id="95" name=""/>
          <p:cNvCxnSpPr/>
          <p:nvPr/>
        </p:nvCxnSpPr>
        <p:spPr>
          <a:xfrm xmlns:a="http://schemas.openxmlformats.org/drawingml/2006/main">
            <a:off x="6153150" y="3781425"/>
            <a:ext cx="5095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5E195-FF39-49FE-9F30-314447CC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957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VALIDACIÓN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E1B2E-A5C8-476C-9923-88DF4865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29125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02A3E"/>
                </a:solidFill>
              </a:defRPr>
            </a:pPr>
            <a:r>
              <a:rPr sz="1575" b="1" i="0">
                <a:solidFill>
                  <a:srgbClr val="102A3E"/>
                </a:solidFill>
              </a:rPr>
              <a:t>Define criterios de aceptación, pruebas funcionales, rutas reales y evidencia trazable por resultado.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5857875" y="409575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B9857-08B7-4377-AC78-BD2FEC76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957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9A45"/>
                </a:solidFill>
              </a:defRPr>
            </a:pPr>
            <a:r>
              <a:rPr sz="1050" b="1" i="0">
                <a:solidFill>
                  <a:srgbClr val="C99A45"/>
                </a:solidFill>
              </a:rPr>
              <a:t>TRANSFERENCIA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F372E9-DB79-437A-9367-6858BE50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29125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02A3E"/>
                </a:solidFill>
              </a:defRPr>
            </a:pPr>
            <a:r>
              <a:rPr sz="1575" b="1" i="0">
                <a:solidFill>
                  <a:srgbClr val="102A3E"/>
                </a:solidFill>
              </a:rPr>
              <a:t>El núcleo puede reutilizarse en hoteles, hospitales, universidades y centros comerciales.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DDEBA-FAA0-480D-9FB5-6D31A878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00700"/>
            <a:ext cx="561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A8165-5FAE-44C3-86EB-8676B412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6197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Resultado APT: solución instalable, documentada y demostrable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FBBBE-86DB-45EE-B16A-59DED49D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AA7AA-222B-4F18-84E1-F6DB041E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F0F032-8CE8-444E-88AB-CAF24FFD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9DB16F-9AA7-486F-8ECF-3E78D17E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UX = experiencia de usuario</a:t>
            </a:r>
          </a:p>
        </p:txBody>
      </p:sp>
    </p:spTree>
    <p:extLst>
      <p:ext uri="{BB962C8B-B14F-4D97-AF65-F5344CB8AC3E}">
        <p14:creationId xmlns:p14="http://schemas.microsoft.com/office/powerpoint/2010/main" val="639570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5E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39BBE4-4EA7-4A23-8E34-58724264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A4156-3087-4C43-AFFF-FE8B64BA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944D2-D439-4973-975F-6F99FEDD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18036-7FAE-46E2-8735-CAD79FFD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B5089-24EA-46C1-856E-182AC255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86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Objetivos: entregar navegación interior completa en Android</a:t>
            </a:r>
          </a:p>
        </p:txBody>
      </p:sp>
      <p:cxnSp>
        <p:nvCxnSpPr>
          <p:cNvPr id="115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33E68-811F-443E-B87E-B937752F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a45c5f59641cc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5C4AD-A096-4C60-BC7D-2E4BE4DD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BA933-B106-4A54-BFDA-3E9D1A83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F04D5-3A80-4CA1-A104-33DDBB5B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113157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3DAB4-6C0B-4462-9D81-A70374F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OBJETIVO GENERAL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ED83C-463C-417D-9881-2D98017F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38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1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Construir una aplicación que determine la posición aproximada, permita elegir un destino y guíe al usuario por rutas accesibles y multilingües dentro de Hippocampus.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D13CA-93FA-46DA-B751-2EF954E3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79052-2C94-4A99-84E4-9FA4524D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24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8F556-EFC4-4A36-8AAD-95047F37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Digitalizar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B2953-8F5A-4074-B595-89EAB9EA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052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Mapas, niveles, POI y grafo navegable.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34DAD-3DEA-4A3E-8AE6-DE9A8954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610E1-BF4B-438C-BD16-D12AA29A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124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8ED4E-11BB-4B71-9511-271006C2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Calcular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28099-F0BC-4D12-A8B7-03ED3971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052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Rutas eficientes con A* y restricciones.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7C8584-FB9D-4293-B0DD-C14A7FFE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A29B81-CBF3-476B-B99A-B575E6F6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24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4F70E9-5CE3-4F1B-AC98-6B0BEC3F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Posicionar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01DB8-ACA5-436F-BED4-4BC49C9F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052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Fusionar Wi‑Fi, IMU y puntos QR/NFC.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9DAE22-21B3-4B16-9D77-E0B1F2B0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599EF7-D166-47CC-B1A5-56EA8455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24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E01D1B-8A34-43E7-9890-5EBFF10F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Guiar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EA5B43-B05E-4525-9098-66CADE40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052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Paso a paso, recálculo y operación offline.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34983E-874D-45EF-B32F-596987E2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F24451-C8AC-459E-B2CD-93A912D4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24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F81AAF-65B7-4B0B-8E38-BF9F6B88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Validar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16DDEF-3459-45BA-AC57-09C18235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Funcionalidad, usabilidad y accesibilidad en terreno.</a:t>
            </a:r>
          </a:p>
        </p:txBody>
      </p:sp>
      <p:cxnSp>
        <p:nvCxnSpPr>
          <p:cNvPr id="143" name=""/>
          <p:cNvCxnSpPr/>
          <p:nvPr/>
        </p:nvCxnSpPr>
        <p:spPr>
          <a:xfrm xmlns:a="http://schemas.openxmlformats.org/drawingml/2006/main">
            <a:off x="438150" y="5343525"/>
            <a:ext cx="1131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E055FD-91F5-4E2E-85CA-8330A25C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3F5E"/>
                </a:solidFill>
              </a:defRPr>
            </a:pPr>
            <a:r>
              <a:rPr sz="1500" b="1" i="0">
                <a:solidFill>
                  <a:srgbClr val="123F5E"/>
                </a:solidFill>
              </a:rPr>
              <a:t>Criterio común: cada objetivo debe producir evidencia verificable y quedar trazado en el tablero Kanban.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CAA3C5-5534-40FB-BBE6-F89142B0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42B594-6260-41FD-9669-95C9010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3D672D-BF2F-421A-BE37-4B7A649F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89C2D5-E644-48F7-A966-208F82B5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67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POI = punto de interés · IMU = unidad inercial</a:t>
            </a:r>
          </a:p>
          <a:p xmlns:a="http://schemas.openxmlformats.org/drawingml/2006/main">
            <a:pPr algn="l">
              <a:buNone/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QR = respuesta rápida · NFC = comunicación cercana · A* = algoritmo de rutas</a:t>
            </a:r>
          </a:p>
        </p:txBody>
      </p:sp>
    </p:spTree>
    <p:extLst>
      <p:ext uri="{BB962C8B-B14F-4D97-AF65-F5344CB8AC3E}">
        <p14:creationId xmlns:p14="http://schemas.microsoft.com/office/powerpoint/2010/main" val="562689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5E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35855D-0BB1-49F5-BC0C-913DBFC1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0DD86-676B-49EA-A08C-90E33EFA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6358B-6646-49B6-A868-F75B4E3F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99C0A-E2C3-4067-A700-1FFB6F50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5EE72-727B-43EA-8017-55EA07B9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Alcance v1.0 y escalabilidad</a:t>
            </a:r>
          </a:p>
        </p:txBody>
      </p:sp>
      <p:cxnSp>
        <p:nvCxnSpPr>
          <p:cNvPr id="111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BEBC1-D8CB-428E-B8D2-C14F3749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d1814169e4043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C4E08-BDBE-4EE0-AFFB-662C7DFA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9E3EB-78D5-4477-84CC-29617648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84FF4-2C54-400D-B41A-911B2C6D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5B7C6"/>
                </a:solidFill>
              </a:defRPr>
            </a:pPr>
            <a:r>
              <a:rPr sz="1125" b="1" i="0">
                <a:solidFill>
                  <a:srgbClr val="25B7C6"/>
                </a:solidFill>
              </a:rPr>
              <a:t>ALCANCE V1.0 · HIPPOCAMPUS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CB849-0556-467C-8E33-9C0EF100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119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203D3-4165-4EE1-9657-7598C241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niveles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952AF-FCD6-4976-B45D-A66DA18E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14525"/>
            <a:ext cx="119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B23DF-C054-4FC3-A5A1-C30A812C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479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POI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5A9EC-5EA9-45A8-AD38-E796F21E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145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FEA71-C76E-4FDC-9FB0-B671801C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479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idiomas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AB230-AEC9-48A8-9793-93A90DBE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4143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• Android inicial</a:t>
            </a:r>
          </a:p>
          <a:p xmlns:a="http://schemas.openxmlformats.org/drawingml/2006/main">
            <a:pPr algn="l">
              <a:buNone/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• Mapas vectoriales y grafo</a:t>
            </a:r>
          </a:p>
          <a:p xmlns:a="http://schemas.openxmlformats.org/drawingml/2006/main">
            <a:pPr algn="l">
              <a:buNone/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• Posicionamiento híbrido</a:t>
            </a:r>
          </a:p>
          <a:p xmlns:a="http://schemas.openxmlformats.org/drawingml/2006/main">
            <a:pPr algn="l">
              <a:buNone/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• A*, recálculo y rutas accesibles</a:t>
            </a:r>
          </a:p>
          <a:p xmlns:a="http://schemas.openxmlformats.org/drawingml/2006/main">
            <a:pPr algn="l">
              <a:buNone/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• Operación esencial offline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9A295-762B-4D61-B0B1-77D3CC62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43243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5B11C-8FBB-4E9B-A908-E327D9C8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Fuera de alcance v1: sistema iOS de Apple, GPS exterior, reservas, pagos e integración hotelera.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1713C-5611-4DB5-9FD1-D4D63D65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49542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99A45"/>
                </a:solidFill>
              </a:defRPr>
            </a:pPr>
            <a:r>
              <a:rPr sz="1125" b="1" i="0">
                <a:solidFill>
                  <a:srgbClr val="C99A45"/>
                </a:solidFill>
              </a:rPr>
              <a:t>ESCALABILIDAD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60079-9F3D-48B3-B12E-E6D0A215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9812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1C48B-13EF-496E-BA17-8F4EBD1E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0002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834FA-79A8-467E-A757-073603A4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7167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Hippocampus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0E3C58-893C-4004-B959-28DA5C77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52675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Primera implementación y validación en terreno.</a:t>
            </a:r>
          </a:p>
        </p:txBody>
      </p:sp>
      <p:cxnSp>
        <p:nvCxnSpPr>
          <p:cNvPr id="131" name=""/>
          <p:cNvCxnSpPr/>
          <p:nvPr/>
        </p:nvCxnSpPr>
        <p:spPr>
          <a:xfrm xmlns:a="http://schemas.openxmlformats.org/drawingml/2006/main">
            <a:off x="6057900" y="24574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964A08-F4DD-4C15-AFDE-84B57E03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238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448EA7-8494-47E6-9CF9-40741712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2575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6A112F-657B-470A-8B43-B8A397B2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2897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Nuevos edificios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CFE741-52FB-4A7F-B128-69163A0E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9975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Mismo motor; cambian mapas, grafo, POI y calibraciones.</a:t>
            </a:r>
          </a:p>
        </p:txBody>
      </p:sp>
      <p:cxnSp>
        <p:nvCxnSpPr>
          <p:cNvPr id="136" name=""/>
          <p:cNvCxnSpPr/>
          <p:nvPr/>
        </p:nvCxnSpPr>
        <p:spPr>
          <a:xfrm xmlns:a="http://schemas.openxmlformats.org/drawingml/2006/main">
            <a:off x="6057900" y="37147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52DE31-0E44-43A1-AFBE-678177C1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95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BDC5DD-781C-41D7-A148-E91F65E4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148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D516D4-8BA4-4E54-98DB-370EFAA9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8627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Operación multisede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850097-5DE8-4467-B759-88DA761E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67275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Entidades separadas por site_id y publicación por versión.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1AFB9D-B3A5-456A-9AD0-4D2B5E35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619750"/>
            <a:ext cx="5476875" cy="333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03B3CA-4D73-42B1-A326-DB2088C8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638800"/>
            <a:ext cx="5286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Hoteles · hospitales · universidades · centros comerciales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60C27B-4F41-44F9-83E6-7F347BE0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82D622-4119-4140-9792-73517227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0700E5-DE14-43EC-BDDD-9A33944F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3E80B0-13EF-419D-94A5-8B205AD8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67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POI = punto de interés · GPS = Sistema de Posicionamiento Global</a:t>
            </a:r>
          </a:p>
          <a:p xmlns:a="http://schemas.openxmlformats.org/drawingml/2006/main">
            <a:pPr algn="l">
              <a:buNone/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iOS = sistema operativo móvil de Apple · v1.0 = versión 1.0</a:t>
            </a:r>
          </a:p>
        </p:txBody>
      </p:sp>
    </p:spTree>
    <p:extLst>
      <p:ext uri="{BB962C8B-B14F-4D97-AF65-F5344CB8AC3E}">
        <p14:creationId xmlns:p14="http://schemas.microsoft.com/office/powerpoint/2010/main" val="2086134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5E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18120E-EBCC-48DA-9402-13639333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1465C-538C-4C86-8433-90577510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38AD3-5144-4C6C-B6C1-AF181F7A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74D42-0A45-473C-BD00-3A3CF63E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2387D-0997-459D-A090-DA212FF4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Priorización de épicas: primero el núcleo navegable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B6BFA-97A2-4383-AFF5-13460939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62fb33d4249d1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A3A2F-7046-470A-B893-B94C84B4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11133-CBA1-4322-9763-1F06BF90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F78F2-38B2-4217-89AB-290A69D3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542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38E5C-1FCA-4126-9042-C821CA94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288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épicas MUST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31308-3C08-4902-91D8-F74E67E9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9542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C99A45"/>
                </a:solidFill>
              </a:defRPr>
            </a:pPr>
            <a:r>
              <a:rPr sz="3000" b="1" i="0">
                <a:solidFill>
                  <a:srgbClr val="C99A45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4C503-C0EE-4C2B-A4D5-786C5DEC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288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épica SHOULD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665AD-83C5-4F05-9BE1-FC5E6BAC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76525"/>
            <a:ext cx="3667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B2F49"/>
                </a:solidFill>
              </a:defRPr>
            </a:pPr>
            <a:r>
              <a:rPr sz="1425" b="1" i="0">
                <a:solidFill>
                  <a:srgbClr val="0B2F49"/>
                </a:solidFill>
              </a:rPr>
              <a:t>MoSCoW —Must, Should, Could y Won’t— concentra el esfuerzo en una versión útil antes de ampliar la administración de contenidos.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E482B-EAC3-4A2B-AB7A-D13EB523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3667125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E3DB7-AE8A-40EC-8127-EC93D295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5B7C6"/>
                </a:solidFill>
              </a:defRPr>
            </a:pPr>
            <a:r>
              <a:rPr sz="1200" b="1" i="0">
                <a:solidFill>
                  <a:srgbClr val="25B7C6"/>
                </a:solidFill>
              </a:rPr>
              <a:t>Regla de prioridad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8573F-CAA5-4EBB-A6F3-D316AB40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B2F49"/>
                </a:solidFill>
              </a:defRPr>
            </a:pPr>
            <a:r>
              <a:rPr sz="1425" b="1" i="0">
                <a:solidFill>
                  <a:srgbClr val="0B2F49"/>
                </a:solidFill>
              </a:rPr>
              <a:t>Primero: ubicar, calcular y guiar.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0B2F49"/>
                </a:solidFill>
              </a:defRPr>
            </a:pPr>
            <a:r>
              <a:rPr sz="1425" b="1" i="0">
                <a:solidFill>
                  <a:srgbClr val="0B2F49"/>
                </a:solidFill>
              </a:rPr>
              <a:t>Después: optimizar la gestión y evolución del contenido.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1128D-363D-4C2A-98E3-E4680F55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4954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5B7C6"/>
                </a:solidFill>
              </a:defRPr>
            </a:pPr>
            <a:r>
              <a:rPr sz="1125" b="1" i="0">
                <a:solidFill>
                  <a:srgbClr val="25B7C6"/>
                </a:solidFill>
              </a:rPr>
              <a:t>MUST · VERSIÓN 1.0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7599D-8978-4AF1-BAC0-A46ABDB7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71675"/>
            <a:ext cx="31432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EP‑01 Mapas y puntos de interés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EP‑02 Posicionamiento híbrido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EP‑03 Cálculo inteligente de rutas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EP‑04 Navegación y recálculo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90A0C5-79E5-4C3F-96CE-AF5C62BE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71675"/>
            <a:ext cx="33813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EP‑05 Accesibilidad e inclusión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EP‑06 Experiencia multilingüe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EP‑07 Operación offline y sincronización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EP‑09 Privacidad, calidad y entrega</a:t>
            </a:r>
          </a:p>
        </p:txBody>
      </p:sp>
      <p:cxnSp>
        <p:nvCxnSpPr>
          <p:cNvPr id="97" name=""/>
          <p:cNvCxnSpPr/>
          <p:nvPr/>
        </p:nvCxnSpPr>
        <p:spPr>
          <a:xfrm xmlns:a="http://schemas.openxmlformats.org/drawingml/2006/main">
            <a:off x="4695825" y="4810125"/>
            <a:ext cx="67341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C19AB-210D-40A9-8411-C4D0261F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0387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99A45"/>
                </a:solidFill>
              </a:defRPr>
            </a:pPr>
            <a:r>
              <a:rPr sz="1125" b="1" i="0">
                <a:solidFill>
                  <a:srgbClr val="C99A45"/>
                </a:solidFill>
              </a:rPr>
              <a:t>SHOULD · EVOLUCIÓN CONTROLADA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E74A06-6A56-4D8F-8683-EF7615AD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483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EP‑08 Gestión y evolución del contenido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63954F-6E56-4556-9D12-2DB6F716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734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Catálogo priorizado: 9 épicas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FFA1D-6121-432F-8B0C-C63BABB4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9EF1CF-9286-42A7-9D31-83481E1E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AAD696-E288-4888-ACD0-0E40F302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8DDD14-EDAB-492B-B29C-3DD379A0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38" b="1" i="0">
                <a:solidFill>
                  <a:srgbClr val="FFFFFF"/>
                </a:solidFill>
              </a:defRPr>
            </a:pPr>
            <a:r>
              <a:rPr sz="638" b="1" i="0">
                <a:solidFill>
                  <a:srgbClr val="FFFFFF"/>
                </a:solidFill>
              </a:rPr>
              <a:t>APT = Asignatura de Portafolio de Título · EP = épica · MoSCoW = Must (obligatorio), Should (recomendable), Could (deseable) y Won’t (fuera de esta versión)</a:t>
            </a:r>
          </a:p>
        </p:txBody>
      </p:sp>
    </p:spTree>
    <p:extLst>
      <p:ext uri="{BB962C8B-B14F-4D97-AF65-F5344CB8AC3E}">
        <p14:creationId xmlns:p14="http://schemas.microsoft.com/office/powerpoint/2010/main" val="1010512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970cafcc647f4"/>
          <a:stretch xmlns:a="http://schemas.openxmlformats.org/drawingml/2006/main"/>
        </p:blipFill>
        <p:spPr>
          <a:xfrm xmlns:a="http://schemas.openxmlformats.org/drawingml/2006/main">
            <a:off x="1523543" y="0"/>
            <a:ext cx="9154438" cy="647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B08B6-BB20-4082-AC98-42A19AA8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139190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3DE15-C40D-47E4-B904-8B136597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819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A7635-AD8C-4CA0-BFF3-8E5BA7C4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572250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3EA7E-0D54-427F-9C16-C3558666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524625"/>
            <a:ext cx="10248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4FAFC"/>
                </a:solidFill>
              </a:defRPr>
            </a:pPr>
            <a:r>
              <a:rPr sz="750" b="1" i="0">
                <a:solidFill>
                  <a:srgbClr val="F4FAFC"/>
                </a:solidFill>
              </a:rPr>
              <a:t>API = interfaz de programación · HTTPS = protocolo web seguro · POI = punto de interés · A* = algoritmo de rutas</a:t>
            </a:r>
          </a:p>
          <a:p xmlns:a="http://schemas.openxmlformats.org/drawingml/2006/main">
            <a:pPr algn="l">
              <a:buNone/>
              <a:defRPr sz="750" b="1" i="0">
                <a:solidFill>
                  <a:srgbClr val="F4FAFC"/>
                </a:solidFill>
              </a:defRPr>
            </a:pPr>
            <a:r>
              <a:rPr sz="750" b="1" i="0">
                <a:solidFill>
                  <a:srgbClr val="F4FAFC"/>
                </a:solidFill>
              </a:rPr>
              <a:t>IMU = medición inercial · QR = respuesta rápida · SVG = gráficos vectoriales · JSON = notación de objetos JavaScript · SQL = lenguaje de consulta</a:t>
            </a:r>
          </a:p>
        </p:txBody>
      </p:sp>
    </p:spTree>
    <p:extLst>
      <p:ext uri="{BB962C8B-B14F-4D97-AF65-F5344CB8AC3E}">
        <p14:creationId xmlns:p14="http://schemas.microsoft.com/office/powerpoint/2010/main" val="7213389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D5E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9A6274-3D40-4D4A-884E-222A8BB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9BB89-C722-43B5-B7AD-3FB9B03E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AFA31-B9F1-4993-9715-24C7F5BE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14CC0-E0B8-4F81-8B09-1A92616C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765FA-5324-483B-9A7D-33A29E3F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79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Factibilidad y recursos: tecnología disponible, validación exigente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736D6-30FF-497B-9402-199BFAFC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c10107d724e4a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8E709-FAA1-453E-BE68-0AF1ED31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C25B7-D214-49E0-BB0B-A037021D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EA07B-5C72-439B-A174-CF6464E9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718CF-95BC-41B9-B7E8-181D00FF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2882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integrantes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873A2-ACED-4D9D-B1D6-12C57B59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954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3258A-7B1E-400F-A1CE-83B8C639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288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semanas de trabajo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D0659-7EC1-4091-9EAD-DBA9E3E1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954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C99A45"/>
                </a:solidFill>
              </a:defRPr>
            </a:pPr>
            <a:r>
              <a:rPr sz="3000" b="1" i="0">
                <a:solidFill>
                  <a:srgbClr val="C99A45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3FBAA-7DC3-4155-A398-1114A087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288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niveles a digitalizar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70B58-39AD-4DC6-BF9E-46B57E10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71625"/>
            <a:ext cx="3762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2F49"/>
                </a:solidFill>
              </a:defRPr>
            </a:pPr>
            <a:r>
              <a:rPr sz="1875" b="1" i="0">
                <a:solidFill>
                  <a:srgbClr val="0B2F49"/>
                </a:solidFill>
              </a:rPr>
              <a:t>La factibilidad técnica es alta; el principal desafío es la calidad del levantamiento en terreno.</a:t>
            </a:r>
          </a:p>
        </p:txBody>
      </p:sp>
      <p:cxnSp>
        <p:nvCxnSpPr>
          <p:cNvPr id="100" name=""/>
          <p:cNvCxnSpPr/>
          <p:nvPr/>
        </p:nvCxnSpPr>
        <p:spPr>
          <a:xfrm xmlns:a="http://schemas.openxmlformats.org/drawingml/2006/main">
            <a:off x="457200" y="2724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8B062-DAEA-4CE4-8028-D552EB47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5B7C6"/>
                </a:solidFill>
              </a:defRPr>
            </a:pPr>
            <a:r>
              <a:rPr sz="1125" b="1" i="0">
                <a:solidFill>
                  <a:srgbClr val="25B7C6"/>
                </a:solidFill>
              </a:rPr>
              <a:t>TÉCNICA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7FCFC-668A-4FEB-9239-A4EA4E24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3333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Ionic, Angular, TypeScript, Capacitor, SQLite y A* permiten construir el núcleo con tecnologías conocidas y abiertas.</a:t>
            </a:r>
          </a:p>
        </p:txBody>
      </p:sp>
      <p:cxnSp>
        <p:nvCxnSpPr>
          <p:cNvPr id="103" name=""/>
          <p:cNvCxnSpPr/>
          <p:nvPr/>
        </p:nvCxnSpPr>
        <p:spPr>
          <a:xfrm xmlns:a="http://schemas.openxmlformats.org/drawingml/2006/main">
            <a:off x="3981450" y="3095625"/>
            <a:ext cx="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9D07D-D09D-485B-A862-E815F2A2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956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5B7C6"/>
                </a:solidFill>
              </a:defRPr>
            </a:pPr>
            <a:r>
              <a:rPr sz="1125" b="1" i="0">
                <a:solidFill>
                  <a:srgbClr val="25B7C6"/>
                </a:solidFill>
              </a:rPr>
              <a:t>OPERACIONAL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C69E0-CC5C-46DB-BBBA-DC5A2333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3333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No exige cuenta al visitante; funciona offline y aprovecha Wi‑Fi autorizado, sensores y señalética QR.</a:t>
            </a:r>
          </a:p>
        </p:txBody>
      </p:sp>
      <p:cxnSp>
        <p:nvCxnSpPr>
          <p:cNvPr id="106" name=""/>
          <p:cNvCxnSpPr/>
          <p:nvPr/>
        </p:nvCxnSpPr>
        <p:spPr>
          <a:xfrm xmlns:a="http://schemas.openxmlformats.org/drawingml/2006/main">
            <a:off x="7791450" y="3095625"/>
            <a:ext cx="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A228B-16E0-43F5-81D9-337D5E37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956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99A45"/>
                </a:solidFill>
              </a:defRPr>
            </a:pPr>
            <a:r>
              <a:rPr sz="1125" b="1" i="0">
                <a:solidFill>
                  <a:srgbClr val="C99A45"/>
                </a:solidFill>
              </a:rPr>
              <a:t>ECONÓMICA / TEMPORAL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B8EE1-AB05-4DAC-9F96-4E701419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333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Licenciamiento inicial acotado. Los costos críticos son terreno, señalética, publicación, mantenimiento y backend.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4885F3-8E32-4284-8DCC-DFB6415A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12776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E968B8-6295-4BBA-BB2F-104D94EC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38750"/>
            <a:ext cx="1071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Recursos críticos: planos y niveles · teléfonos Android · autorización Wi‑Fi · señalética QR/NFC · pruebas con usuarios · respaldo del resort.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510E21-FFF8-4BCA-8033-0CCC3379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6AE0E1-4CF2-410B-A6BE-BC8FB176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8B10C1-13D9-4F55-85B1-8F450602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9939F4-E134-485C-BCD4-4E3C57E0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67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A* = algoritmo de rutas · QR = respuesta rápida · NFC = comunicación cercana</a:t>
            </a:r>
          </a:p>
          <a:p xmlns:a="http://schemas.openxmlformats.org/drawingml/2006/main">
            <a:pPr algn="l">
              <a:buNone/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API = interfaz de programación · HTTPS = protocolo web seguro · SQL = lenguaje de consulta</a:t>
            </a:r>
          </a:p>
        </p:txBody>
      </p:sp>
    </p:spTree>
    <p:extLst>
      <p:ext uri="{BB962C8B-B14F-4D97-AF65-F5344CB8AC3E}">
        <p14:creationId xmlns:p14="http://schemas.microsoft.com/office/powerpoint/2010/main" val="1549072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5E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889647-A214-44D9-A1F8-BD38763F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4E45F-8845-4F80-B8DC-A896B015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1B1D4-DDBA-4659-9920-01D5D5D9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BE230-30F4-40AB-88DB-42C2BF28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5B015-B7D7-461B-8545-6C66171D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Metodología Kanban y equipo</a:t>
            </a:r>
          </a:p>
        </p:txBody>
      </p:sp>
      <p:cxnSp>
        <p:nvCxnSpPr>
          <p:cNvPr id="151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8F958-F43D-41F0-905F-4C213680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94dd121e14ba6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EFBA7-4463-44D6-B880-7009C9DE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86B2B-0DFB-4333-8B26-A272D862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208A7-34C8-4599-A676-11DFD906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5B7C6"/>
                </a:solidFill>
              </a:defRPr>
            </a:pPr>
            <a:r>
              <a:rPr sz="1125" b="1" i="0">
                <a:solidFill>
                  <a:srgbClr val="25B7C6"/>
                </a:solidFill>
              </a:rPr>
              <a:t>FLUJO DE TRABAJO</a:t>
            </a:r>
          </a:p>
        </p:txBody>
      </p:sp>
      <p:cxnSp>
        <p:nvCxnSpPr>
          <p:cNvPr id="157" name=""/>
          <p:cNvCxnSpPr/>
          <p:nvPr/>
        </p:nvCxnSpPr>
        <p:spPr>
          <a:xfrm xmlns:a="http://schemas.openxmlformats.org/drawingml/2006/main">
            <a:off x="857250" y="243840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D8E1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0875E-A1E2-4657-9DBD-EF4E0826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10D07-51AE-4CB4-8EE6-44C60355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75C03-D1C4-471F-A36B-9D2DB9FD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Backlog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31B93-3335-47F2-83EE-8A6EAECE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B5B3F-5D41-46F2-A42E-30F6ADAB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1AB16-DCEE-4664-A456-D9EBDCAC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3D542-5612-4DF1-B7E5-A3D5278F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Por hacer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67FDA-4B9E-4819-BCD8-49F64D6E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WIP 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5D140-6CCC-430E-BCA4-1D985AF6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F551C-50BC-4F27-A39C-8DCE50D0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F2835A-EF7B-4E47-8542-9F489914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En progreso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EF84E3-7002-43F5-9D14-8CE916B9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WIP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A052C0-FEB5-49F9-9A1D-7B742807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B70B88-967C-45D8-AC8D-B0138CBE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6BC0F-ACC4-4B36-A55B-29676B49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Revisión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AC5C8E-FF92-4602-A886-365EE7F0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WIP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59B369-D0C5-4357-9049-D19EF976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9298BB-BB4F-4301-95E4-E35044D5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C71B71-1530-453A-BB66-C5648B79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Pruebas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53D4C5-0D0F-42D2-82A6-37820A38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WIP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4E56D2-36CE-4013-AD38-E94809FD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F8AFB8-A457-40F3-B541-D92AC4DC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ED6B62-BFAC-4D32-9AD6-53D8908C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Terminado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883D4E-28B9-4874-9D9F-E74019D4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—</a:t>
            </a:r>
          </a:p>
        </p:txBody>
      </p:sp>
      <p:cxnSp>
        <p:nvCxnSpPr>
          <p:cNvPr id="182" name=""/>
          <p:cNvCxnSpPr/>
          <p:nvPr/>
        </p:nvCxnSpPr>
        <p:spPr>
          <a:xfrm xmlns:a="http://schemas.openxmlformats.org/drawingml/2006/main">
            <a:off x="457200" y="3743325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028604-6E83-4371-B5C5-61E8A7C5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8125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GONZALO ALLENDE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BF3009-D34B-442E-B093-0E3EA92D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Líder del proyecto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82F0DE-A443-4BAE-9A51-CAD8A858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333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Coordinación del equipo, tablero, prioridades, límites WIP, bloqueos, arquitectura, integración y evidencia.</a:t>
            </a:r>
          </a:p>
        </p:txBody>
      </p:sp>
      <p:cxnSp>
        <p:nvCxnSpPr>
          <p:cNvPr id="186" name=""/>
          <p:cNvCxnSpPr/>
          <p:nvPr/>
        </p:nvCxnSpPr>
        <p:spPr>
          <a:xfrm xmlns:a="http://schemas.openxmlformats.org/drawingml/2006/main">
            <a:off x="3981450" y="4048125"/>
            <a:ext cx="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439835-5F0C-4E0B-91AE-44CEA2AF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48125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7554AF"/>
                </a:solidFill>
              </a:defRPr>
            </a:pPr>
            <a:r>
              <a:rPr sz="1050" b="1" i="0">
                <a:solidFill>
                  <a:srgbClr val="7554AF"/>
                </a:solidFill>
              </a:rPr>
              <a:t>CRISTIAN CULIPICHUN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0FF12E-DF6B-4C1B-9BF8-4A3F10D2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Aplicación móvil y UX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6D1902-5296-4CCC-A258-8540CB6A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29175"/>
            <a:ext cx="333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UX (experiencia de usuario): Ionic/Angular, pantallas, navegación visual, idiomas, accesibilidad y pruebas de interfaz.</a:t>
            </a:r>
          </a:p>
        </p:txBody>
      </p:sp>
      <p:cxnSp>
        <p:nvCxnSpPr>
          <p:cNvPr id="190" name=""/>
          <p:cNvCxnSpPr/>
          <p:nvPr/>
        </p:nvCxnSpPr>
        <p:spPr>
          <a:xfrm xmlns:a="http://schemas.openxmlformats.org/drawingml/2006/main">
            <a:off x="7791450" y="4048125"/>
            <a:ext cx="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40EE6D-3FC7-4F73-8C8B-8D12280A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48125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28B28"/>
                </a:solidFill>
              </a:defRPr>
            </a:pPr>
            <a:r>
              <a:rPr sz="1050" b="1" i="0">
                <a:solidFill>
                  <a:srgbClr val="F28B28"/>
                </a:solidFill>
              </a:rPr>
              <a:t>PEDRO NAVARRO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A66B4F-E104-4A6E-92D3-958F3572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Mapas, posicionamiento y QA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288BDD-8D1C-459E-9A9A-2287C41F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29175"/>
            <a:ext cx="333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QA (aseguramiento de calidad): planos, grafo, A*, posicionamiento, rutas de campo y registro de defectos.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D31AA6-D3A9-4828-85EA-9F8B0621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3F5E"/>
                </a:solidFill>
              </a:defRPr>
            </a:pPr>
            <a:r>
              <a:rPr sz="1200" b="1" i="0">
                <a:solidFill>
                  <a:srgbClr val="123F5E"/>
                </a:solidFill>
              </a:rPr>
              <a:t>Calidad y aceptación son responsabilidades compartidas; los focos reducen duplicidad, no crean silos.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413C88-4478-494E-B621-B0756D55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597D70-F8AF-4235-A6E6-8954EDFD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45D726-C1A6-4177-951C-A5AF4C1E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CD91B6-738C-4471-8A4F-257E4922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67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WIP = trabajo en curso · UX = experiencia de usuario</a:t>
            </a:r>
          </a:p>
          <a:p xmlns:a="http://schemas.openxmlformats.org/drawingml/2006/main">
            <a:pPr algn="l">
              <a:buNone/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QA = aseguramiento de calidad · A* = algoritmo de rutas</a:t>
            </a:r>
          </a:p>
        </p:txBody>
      </p:sp>
    </p:spTree>
    <p:extLst>
      <p:ext uri="{BB962C8B-B14F-4D97-AF65-F5344CB8AC3E}">
        <p14:creationId xmlns:p14="http://schemas.microsoft.com/office/powerpoint/2010/main" val="8578931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5E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B899732-BA90-4E15-8F3A-F1396F21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71FA4-EFFD-4703-9450-968E92D4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33D6E-B8D7-48DB-B4AD-0BCAB421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D64CF-DD9F-4665-AB61-563FEE39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F7A56-E4A0-4A6E-ABEF-964C5605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Evidencia: aplicación de metodología Kanban</a:t>
            </a:r>
          </a:p>
        </p:txBody>
      </p:sp>
      <p:cxnSp>
        <p:nvCxnSpPr>
          <p:cNvPr id="263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7C7D4-69E6-4783-B726-5527AEC0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4fa624f344f4f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0F4B1-A203-43E4-8C55-BA63C32A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76D03-6A73-4657-80BE-895F2F7D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5FC1C-4422-4855-9939-FE49584E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526A7A"/>
                </a:solidFill>
              </a:defRPr>
            </a:pPr>
            <a:r>
              <a:rPr sz="1500" b="1" i="0">
                <a:solidFill>
                  <a:srgbClr val="526A7A"/>
                </a:solidFill>
              </a:rPr>
              <a:t>El avance se gestiona como flujo continuo: cada tarea se incorpora según la capacidad disponible y los bloqueos quedan visibles.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7518B-B6F1-4596-96AF-B3DD761B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60BC0-E43F-4831-A8E7-96A40260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52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EC72D-81B2-44F1-8EFB-42299D8D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BACKLOG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D4CFF-B6C1-45D0-A60A-07A389C0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Pendiente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D7306-C652-43E9-8F46-981D9F8F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6A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83655-377A-4EF7-A698-BA2E7D47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Calibrar Wi‑Fi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74C1C-8FCE-40EF-903A-9FDA11F2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26A7A"/>
                </a:solidFill>
              </a:defRPr>
            </a:pPr>
            <a:r>
              <a:rPr sz="825" b="1" i="0">
                <a:solidFill>
                  <a:srgbClr val="526A7A"/>
                </a:solidFill>
              </a:rPr>
              <a:t>Inventario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61350-FA34-415E-800D-0E90981C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6A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8AF308-71FC-4E3D-8D4C-ADEBFE0C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Refinar POI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BD4997-7DF3-4784-AFC6-C835C61F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26A7A"/>
                </a:solidFill>
              </a:defRPr>
            </a:pPr>
            <a:r>
              <a:rPr sz="825" b="1" i="0">
                <a:solidFill>
                  <a:srgbClr val="526A7A"/>
                </a:solidFill>
              </a:rPr>
              <a:t>Contenido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911250-0FCC-4E5C-A88D-6E01ACF7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6A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88D56-A239-4D1A-8422-F7D725FA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06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Pruebas accesibilidad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58CFC1-BF1B-4263-8F91-462B8E5A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26A7A"/>
                </a:solidFill>
              </a:defRPr>
            </a:pPr>
            <a:r>
              <a:rPr sz="825" b="1" i="0">
                <a:solidFill>
                  <a:srgbClr val="526A7A"/>
                </a:solidFill>
              </a:rPr>
              <a:t>Validación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A711C6-3241-40A3-9999-D3A6A51D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7624D6-B2C7-4799-ADB1-6B16605F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0FCBA-1548-4D0E-890D-A5EC9CFD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POR HACER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8592F7-64A4-429F-B3E8-CDCC93C1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WIP 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541927-D350-4BC8-8AC3-A83BA0E5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B7C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CD33E6-DEEF-466E-A72A-A969C465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Digitalizar nivel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A12BBC-0A15-4F4B-8A8B-38AE0D82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25B7C6"/>
                </a:solidFill>
              </a:defRPr>
            </a:pPr>
            <a:r>
              <a:rPr sz="825" b="1" i="0">
                <a:solidFill>
                  <a:srgbClr val="25B7C6"/>
                </a:solidFill>
              </a:rPr>
              <a:t>Mapas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C6C91A-5DF4-4858-B70D-C2C735FB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B7C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45352E-A98B-48AA-A4F0-10ABABD7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Validar conectores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8FF83B-4353-4799-BC07-A22E1650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25B7C6"/>
                </a:solidFill>
              </a:defRPr>
            </a:pPr>
            <a:r>
              <a:rPr sz="825" b="1" i="0">
                <a:solidFill>
                  <a:srgbClr val="25B7C6"/>
                </a:solidFill>
              </a:rPr>
              <a:t>Grafo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FC932F-F814-4A8C-B303-7A88D52D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F7845C-061A-404B-A2D7-A1621BF0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7554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FBF4AE-68C3-425C-A12F-46FB8B05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EN PROGRESO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2A62DC-DEDA-424E-A9B4-FB340364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WIP 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FFA8D4-E1B1-4BE3-8AC6-A8929931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554A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C6820A-15CC-437C-9A9B-99AE116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Integración QR/NFC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2AD83A-ED09-40C1-AB34-1A5BE74E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7554AF"/>
                </a:solidFill>
              </a:defRPr>
            </a:pPr>
            <a:r>
              <a:rPr sz="825" b="1" i="0">
                <a:solidFill>
                  <a:srgbClr val="7554AF"/>
                </a:solidFill>
              </a:rPr>
              <a:t>Posicionamiento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8B50C3-6346-4E46-BE4F-6B289E9D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554A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660577-512A-4811-89F9-EF22D322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Motor A*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A75D3F-09BC-4EBC-A439-00CD4B21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7554AF"/>
                </a:solidFill>
              </a:defRPr>
            </a:pPr>
            <a:r>
              <a:rPr sz="825" b="1" i="0">
                <a:solidFill>
                  <a:srgbClr val="7554AF"/>
                </a:solidFill>
              </a:rPr>
              <a:t>Navegación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F7329D-0082-4BC9-9AD3-245019E8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8C5983-D0BB-4F33-998D-68090A22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2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2DD8BD-0D2E-40F9-9ADF-6D178AD6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REVISIÓN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2A5D98-7CB3-4491-9FCA-6173B00B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WIP 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E27A90-D10E-4ED4-B7EE-ED99E4C3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8B2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030A8B-5EA0-425F-9FD3-B9803DE8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Ajuste al mapa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20F11D-D769-4998-9E79-F9E33535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28B28"/>
                </a:solidFill>
              </a:defRPr>
            </a:pPr>
            <a:r>
              <a:rPr sz="825" b="1" i="0">
                <a:solidFill>
                  <a:srgbClr val="F28B28"/>
                </a:solidFill>
              </a:rPr>
              <a:t>Calidad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CA7F80-BD41-4C7E-8701-41E19FB9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8B2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97BA5E-BE9A-48F6-B984-FD905F17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Traducciones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1BD957-1ADB-4D94-8D43-893DAF98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28B28"/>
                </a:solidFill>
              </a:defRPr>
            </a:pPr>
            <a:r>
              <a:rPr sz="825" b="1" i="0">
                <a:solidFill>
                  <a:srgbClr val="F28B28"/>
                </a:solidFill>
              </a:rPr>
              <a:t>Contenido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5455F1-07C9-404B-B352-A62826DD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675E0F-27C5-470A-8617-1BBE276F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03D113-5EF7-440C-95EE-84418E56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PRUEBAS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D6F061-50B8-44C6-BC52-EAFF6CAE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WIP 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ABBA39-7589-4FA7-ADED-C32B489D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9A4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78C60C-2F2D-474C-A707-4B904724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Ruta accesible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2611B2-1CA3-4923-8C47-D00E672E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C99A45"/>
                </a:solidFill>
              </a:defRPr>
            </a:pPr>
            <a:r>
              <a:rPr sz="825" b="1" i="0">
                <a:solidFill>
                  <a:srgbClr val="C99A45"/>
                </a:solidFill>
              </a:rPr>
              <a:t>Prueba funcional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E2DE88-AC92-4379-B1A8-CB79B78B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9A4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AC19EB-02B0-44B0-A51F-AF52BDC0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Modo offline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EC4B3D-F915-41C1-99ED-BA43341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C99A45"/>
                </a:solidFill>
              </a:defRPr>
            </a:pPr>
            <a:r>
              <a:rPr sz="825" b="1" i="0">
                <a:solidFill>
                  <a:srgbClr val="C99A45"/>
                </a:solidFill>
              </a:rPr>
              <a:t>Prueba técnica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40BD9B-0A93-4DC0-A7CD-731DAFB8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55E952-44E7-48AF-B799-44E6A8A6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19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32C678-1BEA-4A6A-8FC3-510A6642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TERMINADO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7FF3EA-F96E-437E-A0A4-0C60DEE3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Flujo cerrado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D8D4AF-826E-4823-9778-AC6FAC93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9B6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AB02F6F-B3F1-4B85-87DB-49FF48F5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Visión y alcance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0340FA-C22C-47A7-B252-17B17221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219B6C"/>
                </a:solidFill>
              </a:defRPr>
            </a:pPr>
            <a:r>
              <a:rPr sz="825" b="1" i="0">
                <a:solidFill>
                  <a:srgbClr val="219B6C"/>
                </a:solidFill>
              </a:rPr>
              <a:t>Aprobado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12A438E-0CFE-4557-B895-2F232B14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9B6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D42651F-4639-448E-8E5F-514F4CF0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Políticas Kanban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2C55B7B-954F-422D-89FB-DCD99DA8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219B6C"/>
                </a:solidFill>
              </a:defRPr>
            </a:pPr>
            <a:r>
              <a:rPr sz="825" b="1" i="0">
                <a:solidFill>
                  <a:srgbClr val="219B6C"/>
                </a:solidFill>
              </a:rPr>
              <a:t>Aprobado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75A9EA4-6C47-4468-9D11-8F3F39FB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FLUJO PULL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88284F2-CE61-4F48-AE25-7F86E638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B2F49"/>
                </a:solidFill>
              </a:defRPr>
            </a:pPr>
            <a:r>
              <a:rPr sz="1050" b="1" i="0">
                <a:solidFill>
                  <a:srgbClr val="0B2F49"/>
                </a:solidFill>
              </a:rPr>
              <a:t>Se inicia trabajo solo cuando existe capacidad.</a:t>
            </a:r>
          </a:p>
        </p:txBody>
      </p:sp>
      <p:cxnSp>
        <p:nvCxnSpPr>
          <p:cNvPr id="334" name=""/>
          <p:cNvCxnSpPr/>
          <p:nvPr/>
        </p:nvCxnSpPr>
        <p:spPr>
          <a:xfrm xmlns:a="http://schemas.openxmlformats.org/drawingml/2006/main">
            <a:off x="3143250" y="542925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C059AA6-F3AF-435D-86EB-F6198FB7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102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LÍMITES WIP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D5D240A-4EBC-4E4D-9FD2-2B82E73F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657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B2F49"/>
                </a:solidFill>
              </a:defRPr>
            </a:pPr>
            <a:r>
              <a:rPr sz="1050" b="1" i="0">
                <a:solidFill>
                  <a:srgbClr val="0B2F49"/>
                </a:solidFill>
              </a:rPr>
              <a:t>Evitan la sobrecarga y favorecen terminar.</a:t>
            </a:r>
          </a:p>
        </p:txBody>
      </p:sp>
      <p:cxnSp>
        <p:nvCxnSpPr>
          <p:cNvPr id="337" name=""/>
          <p:cNvCxnSpPr/>
          <p:nvPr/>
        </p:nvCxnSpPr>
        <p:spPr>
          <a:xfrm xmlns:a="http://schemas.openxmlformats.org/drawingml/2006/main">
            <a:off x="5962650" y="542925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5928B62-5841-404E-80F1-A767113D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102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BLOQUEOS VISIBLES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8327DA4-0B71-464C-BA68-C87168B4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57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B2F49"/>
                </a:solidFill>
              </a:defRPr>
            </a:pPr>
            <a:r>
              <a:rPr sz="1050" b="1" i="0">
                <a:solidFill>
                  <a:srgbClr val="0B2F49"/>
                </a:solidFill>
              </a:rPr>
              <a:t>Los impedimentos se detectan y atienden.</a:t>
            </a:r>
          </a:p>
        </p:txBody>
      </p:sp>
      <p:cxnSp>
        <p:nvCxnSpPr>
          <p:cNvPr id="340" name=""/>
          <p:cNvCxnSpPr/>
          <p:nvPr/>
        </p:nvCxnSpPr>
        <p:spPr>
          <a:xfrm xmlns:a="http://schemas.openxmlformats.org/drawingml/2006/main">
            <a:off x="8782050" y="542925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03EB403-3FBC-4D47-BC5A-7D864F3A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102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19B6C"/>
                </a:solidFill>
              </a:defRPr>
            </a:pPr>
            <a:r>
              <a:rPr sz="1050" b="1" i="0">
                <a:solidFill>
                  <a:srgbClr val="219B6C"/>
                </a:solidFill>
              </a:rPr>
              <a:t>MEJORA CONTINUA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221CFDE-F57C-4361-BF6B-3B6A1B6D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657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1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B2F49"/>
                </a:solidFill>
              </a:defRPr>
            </a:pPr>
            <a:r>
              <a:rPr sz="1050" b="1" i="0">
                <a:solidFill>
                  <a:srgbClr val="0B2F49"/>
                </a:solidFill>
              </a:rPr>
              <a:t>El flujo se revisa mediante métricas y cadencias.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742BF77-7FC2-4919-B23E-E599CF11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02030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6D23722-05DF-4F30-9BA3-191A4E54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819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E0591D9-A2BF-4EC6-B951-40A56762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24575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8221948-07D2-425C-9E61-6515976C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887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67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WIP = trabajo en curso · POI = punto de interés</a:t>
            </a:r>
          </a:p>
          <a:p xmlns:a="http://schemas.openxmlformats.org/drawingml/2006/main">
            <a:pPr algn="l">
              <a:buNone/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QR = respuesta rápida · NFC = comunicación cercana · A* = algoritmo de rutas</a:t>
            </a:r>
          </a:p>
        </p:txBody>
      </p:sp>
    </p:spTree>
    <p:extLst>
      <p:ext uri="{BB962C8B-B14F-4D97-AF65-F5344CB8AC3E}">
        <p14:creationId xmlns:p14="http://schemas.microsoft.com/office/powerpoint/2010/main" val="8326829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5E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B7F33E-8FC2-4AB1-AB80-9D416109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A8660-F0AA-429E-B41C-6D8603D4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49441-4A1F-48E1-A5F2-A0C09025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283B7-0A02-4008-A6B3-9943939A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121BD-2D7B-4156-ACBF-B94BA321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Plan de trabajo: seis entregas incrementales</a:t>
            </a:r>
          </a:p>
        </p:txBody>
      </p:sp>
      <p:cxnSp>
        <p:nvCxnSpPr>
          <p:cNvPr id="155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3A6D7-C895-46FA-A072-2C8074AA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7f8abb7904996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D4114-D1D8-4D8C-BB37-402E19E1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22D38-61FE-4765-B194-A069EA91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cxnSp>
        <p:nvCxnSpPr>
          <p:cNvPr id="160" name=""/>
          <p:cNvCxnSpPr/>
          <p:nvPr/>
        </p:nvCxnSpPr>
        <p:spPr>
          <a:xfrm xmlns:a="http://schemas.openxmlformats.org/drawingml/2006/main">
            <a:off x="876300" y="3171825"/>
            <a:ext cx="10401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3F5E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D2DE3-449E-4E73-8C3A-8D6B56AC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55934-CF60-41AF-8FD7-03F6831B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2AC65-BB8C-4124-AA43-A764B924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859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11–30 AGO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07125-ECBD-49DE-A739-25E27A81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097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Definición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A2DC5-6EB8-424F-BA81-08C6A5D4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812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Visión, alcance, requisitos y tablero.</a:t>
            </a:r>
          </a:p>
        </p:txBody>
      </p:sp>
      <p:cxnSp>
        <p:nvCxnSpPr>
          <p:cNvPr id="166" name=""/>
          <p:cNvCxnSpPr/>
          <p:nvPr/>
        </p:nvCxnSpPr>
        <p:spPr>
          <a:xfrm xmlns:a="http://schemas.openxmlformats.org/drawingml/2006/main">
            <a:off x="981075" y="26860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9F7B7-BCF0-46B9-9451-97D004FD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C9983-CFCF-47B2-A380-D1C20707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B9DF2-69F0-4B04-AFDB-99E27616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90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31 AGO–27 SEP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F046B0-7F2A-4889-B927-240E217D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Mapas y grafo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CFDCC-22A8-4218-99F2-1E414CDE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148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Niveles, POI, nodos y conexiones.</a:t>
            </a:r>
          </a:p>
        </p:txBody>
      </p:sp>
      <p:cxnSp>
        <p:nvCxnSpPr>
          <p:cNvPr id="172" name=""/>
          <p:cNvCxnSpPr/>
          <p:nvPr/>
        </p:nvCxnSpPr>
        <p:spPr>
          <a:xfrm xmlns:a="http://schemas.openxmlformats.org/drawingml/2006/main">
            <a:off x="2905125" y="3448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49E64-4B19-4543-8C1E-EB73D870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404FC-B6BD-4AEC-AA3F-CE81EDD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8BA1C1-F8BB-42C2-A0E7-3E942F1B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859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28 SEP–25 OCT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0CE2C-8D37-4DED-BF24-4CD504E2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097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Base móvil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B3FA68-E2AB-48E6-8E2E-B76DD1FC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812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Ionic/Angular, datos locales y sensores.</a:t>
            </a:r>
          </a:p>
        </p:txBody>
      </p:sp>
      <p:cxnSp>
        <p:nvCxnSpPr>
          <p:cNvPr id="178" name=""/>
          <p:cNvCxnSpPr/>
          <p:nvPr/>
        </p:nvCxnSpPr>
        <p:spPr>
          <a:xfrm xmlns:a="http://schemas.openxmlformats.org/drawingml/2006/main">
            <a:off x="4829175" y="26860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493105-CE77-4DE9-9AC1-AE7DADFC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6D59CE-4C7A-45FC-A296-5D21F4B5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34C732-3A92-4212-88A7-8AD56DBD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90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26 OCT–22 NOV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54AA51-B836-484F-90F3-51F90D1D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Navegación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40FED9-FA0C-4425-B81F-208294FD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A*, guía, recálculo, idiomas y offline.</a:t>
            </a:r>
          </a:p>
        </p:txBody>
      </p:sp>
      <p:cxnSp>
        <p:nvCxnSpPr>
          <p:cNvPr id="184" name=""/>
          <p:cNvCxnSpPr/>
          <p:nvPr/>
        </p:nvCxnSpPr>
        <p:spPr>
          <a:xfrm xmlns:a="http://schemas.openxmlformats.org/drawingml/2006/main">
            <a:off x="6753225" y="3448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47E0C9-DF02-450A-BA2A-0FAB064F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629011-7401-40B0-8EEE-6649919C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FC2F8E-B7AB-442E-8752-13988C9C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6859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23 NOV–13 DIC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A3B3D9-7326-43C1-A606-652EABD4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0097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Integración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0505C5-397B-400E-B54C-B26E61C4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Pruebas funcionales, accesibilidad y piloto.</a:t>
            </a:r>
          </a:p>
        </p:txBody>
      </p:sp>
      <p:cxnSp>
        <p:nvCxnSpPr>
          <p:cNvPr id="190" name=""/>
          <p:cNvCxnSpPr/>
          <p:nvPr/>
        </p:nvCxnSpPr>
        <p:spPr>
          <a:xfrm xmlns:a="http://schemas.openxmlformats.org/drawingml/2006/main">
            <a:off x="8677275" y="26860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3C3322-2AB1-42E1-B113-8D27F41D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96AF63-F661-4A43-9F02-362FFB67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966EA4-D1EF-4760-936E-575D5BDF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790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19B6C"/>
                </a:solidFill>
              </a:defRPr>
            </a:pPr>
            <a:r>
              <a:rPr sz="1050" b="1" i="0">
                <a:solidFill>
                  <a:srgbClr val="219B6C"/>
                </a:solidFill>
              </a:rPr>
              <a:t>14–20 DIC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B90F21-555C-42CE-9D1E-54317163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Cierre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02DE68-2BB3-4F79-B329-D648DB84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148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Estabilización, evidencias y entrega v1.0.</a:t>
            </a:r>
          </a:p>
        </p:txBody>
      </p:sp>
      <p:cxnSp>
        <p:nvCxnSpPr>
          <p:cNvPr id="196" name=""/>
          <p:cNvCxnSpPr/>
          <p:nvPr/>
        </p:nvCxnSpPr>
        <p:spPr>
          <a:xfrm xmlns:a="http://schemas.openxmlformats.org/drawingml/2006/main">
            <a:off x="10601325" y="3448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C70270-6E2F-44DA-B1EE-9C077FD2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820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DD4041-9C70-487C-B7BD-6AA29B26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86425"/>
            <a:ext cx="1042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0B2F49"/>
                </a:solidFill>
              </a:defRPr>
            </a:pPr>
            <a:r>
              <a:rPr sz="1200" b="1" i="0">
                <a:solidFill>
                  <a:srgbClr val="0B2F49"/>
                </a:solidFill>
              </a:rPr>
              <a:t>Cadencias Kanban: sincronización breve diaria · reposición semanal · revisión de entrega semanal · retrospectiva de flujo quincenal.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6C5E04-9B60-4AC2-92C3-E3805965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0020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947B81-74AA-4DC6-8FDB-87DCB041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34100"/>
            <a:ext cx="819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BE8969-0493-46B3-A986-15FFB3C5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6267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4B8690-9539-463E-8509-8F5B5A87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15050"/>
            <a:ext cx="887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APT = Asignatura de Portafolio de Título · POI = punto de interés · A* = algoritmo de rutas · v1.0 = versión 1.0</a:t>
            </a:r>
          </a:p>
        </p:txBody>
      </p:sp>
    </p:spTree>
    <p:extLst>
      <p:ext uri="{BB962C8B-B14F-4D97-AF65-F5344CB8AC3E}">
        <p14:creationId xmlns:p14="http://schemas.microsoft.com/office/powerpoint/2010/main" val="20636180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1F884C-34E8-4217-A22D-422622B8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19362-6780-44CC-93FF-DFEDB205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2266950" cy="2647950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0f839bb954d7a"/>
          <a:stretch xmlns:a="http://schemas.openxmlformats.org/drawingml/2006/main"/>
        </p:blipFill>
        <p:spPr>
          <a:xfrm xmlns:a="http://schemas.openxmlformats.org/drawingml/2006/main">
            <a:off x="657225" y="663148"/>
            <a:ext cx="1981200" cy="231225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47725-1FB1-4915-8F65-6C79671D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28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839D6-8309-4947-9BC0-104ED4B6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171575"/>
            <a:ext cx="4095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 i="0">
                <a:solidFill>
                  <a:srgbClr val="FFFFFF"/>
                </a:solidFill>
              </a:defRPr>
            </a:pPr>
            <a:r>
              <a:rPr sz="3675" b="1" i="0">
                <a:solidFill>
                  <a:srgbClr val="FFFFFF"/>
                </a:solidFill>
              </a:rPr>
              <a:t>De la desorientación</a:t>
            </a:r>
          </a:p>
          <a:p xmlns:a="http://schemas.openxmlformats.org/drawingml/2006/main">
            <a:pPr algn="l">
              <a:buNone/>
              <a:defRPr sz="3675" b="1" i="0">
                <a:solidFill>
                  <a:srgbClr val="FFFFFF"/>
                </a:solidFill>
              </a:defRPr>
            </a:pPr>
            <a:r>
              <a:rPr sz="3675" b="1" i="0">
                <a:solidFill>
                  <a:srgbClr val="FFFFFF"/>
                </a:solidFill>
              </a:rPr>
              <a:t>a la autonomía.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3BB64-BEE5-4E58-A676-66288AF7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6191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D8E7EF"/>
                </a:solidFill>
              </a:defRPr>
            </a:pPr>
            <a:r>
              <a:rPr sz="1650" b="0" i="0">
                <a:solidFill>
                  <a:srgbClr val="D8E7EF"/>
                </a:solidFill>
              </a:rPr>
              <a:t>NavInside integra mapas, posicionamiento, rutas y accesibilidad para transformar la experiencia interior del resort sin depender de una conexión permanente.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D9432-5F93-4038-9694-75913699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6143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6D185-FF0A-4BF7-B683-92DF853B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Resultado comprometido: NavInside v1.0 instalable, documentada y demostrable.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8FC61-E476-4965-B321-1E39C140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285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D8EC5-F06B-4C3A-9944-BBEAD487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30492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43A1E-8359-4C11-B7AA-DA452300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276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HUÉSPED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3EA64-5DB4-4AD9-8456-289708E9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6002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Más autonomía y orientación inclusiva.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E3B86-805E-4CB1-8796-FD4CFADF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638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B1882-94D4-4A46-A3FE-197F1944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6574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C3E49-6FDD-4184-B673-5EAE6212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28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OPERACIÓN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F696D-D985-4274-BF15-959F4F0C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7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Menos dependencia del personal para consultas repetitivas.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B30A7-D655-4FE6-983C-C55614D3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90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232B5-C0FB-4A9D-92CA-F6BE4276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01002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F89A4-CC2C-49E9-A196-CC0F78F3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981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C99A45"/>
                </a:solidFill>
              </a:defRPr>
            </a:pPr>
            <a:r>
              <a:rPr sz="1050" b="1" i="0">
                <a:solidFill>
                  <a:srgbClr val="C99A45"/>
                </a:solidFill>
              </a:rPr>
              <a:t>EVOLUCIÓN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DD1CD-D0FF-4813-87BD-4854FF20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305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Núcleo reutilizable para nuevos edificios y sedes.</a:t>
            </a:r>
          </a:p>
        </p:txBody>
      </p:sp>
      <p:cxnSp>
        <p:nvCxnSpPr>
          <p:cNvPr id="93" name=""/>
          <p:cNvCxnSpPr/>
          <p:nvPr/>
        </p:nvCxnSpPr>
        <p:spPr>
          <a:xfrm xmlns:a="http://schemas.openxmlformats.org/drawingml/2006/main">
            <a:off x="7543800" y="5476875"/>
            <a:ext cx="3981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77088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219D6-FA7D-4B16-9B28-6668A601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769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Siguiente hito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BFA78-2360-4419-8E42-8D0A1DDD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000750"/>
            <a:ext cx="398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0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Validar mapas, calibración y rutas en terreno.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71EB6-DF6C-418C-B4F6-4629F4D6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98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FC6D3"/>
                </a:solidFill>
              </a:defRPr>
            </a:pPr>
            <a:r>
              <a:rPr sz="1050" b="0" i="0">
                <a:solidFill>
                  <a:srgbClr val="AFC6D3"/>
                </a:solidFill>
              </a:rPr>
              <a:t>Gonzalo Allende · Cristian Culipichun · Pedro Navarro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139C29-1395-4EEC-90A9-9289F57A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0972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3DC90-00BA-4991-A444-7225DB9D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19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E365BD-11BF-4EC8-9AED-A903BE6F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56272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B2F49"/>
                </a:solidFill>
              </a:defRPr>
            </a:pPr>
            <a:r>
              <a:rPr sz="825" b="1" i="0">
                <a:solidFill>
                  <a:srgbClr val="0B2F49"/>
                </a:solidFill>
              </a:rPr>
              <a:t>SIGLAS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B10048-6A44-4CD6-BBFF-7BFCD5C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15100"/>
            <a:ext cx="982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4FAFC"/>
                </a:solidFill>
              </a:defRPr>
            </a:pPr>
            <a:r>
              <a:rPr sz="825" b="1" i="0">
                <a:solidFill>
                  <a:srgbClr val="F4FAFC"/>
                </a:solidFill>
              </a:rPr>
              <a:t>v1.0 = versión 1.0</a:t>
            </a:r>
          </a:p>
        </p:txBody>
      </p:sp>
    </p:spTree>
    <p:extLst>
      <p:ext uri="{BB962C8B-B14F-4D97-AF65-F5344CB8AC3E}">
        <p14:creationId xmlns:p14="http://schemas.microsoft.com/office/powerpoint/2010/main" val="730863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2026-09-03T02:55:53.0140000Z</dcterms:created>
  <dcterms:modified xsi:type="dcterms:W3CDTF">2026-09-03T02:55:53.0140000Z</dcterms:modified>
</coreProperties>
</file>