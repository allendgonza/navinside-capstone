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1604a14bde4637" /><Relationship Type="http://schemas.openxmlformats.org/officeDocument/2006/relationships/extended-properties" Target="/docProps/app.xml" Id="R53e25b43192c4745" /><Relationship Type="http://schemas.openxmlformats.org/officeDocument/2006/relationships/officeDocument" Target="/ppt/presentation.xml" Id="R77b97f35162342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a883c5905a4f31"/>
  </p:sldMasterIdLst>
  <p:notesMasterIdLst>
    <p:notesMasterId xmlns:r="http://schemas.openxmlformats.org/officeDocument/2006/relationships" r:id="Re2840bbbad064cab"/>
  </p:notesMasterIdLst>
  <p:sldIdLst>
    <p:sldId xmlns:r="http://schemas.openxmlformats.org/officeDocument/2006/relationships" id="256" r:id="R8320c8398b7d47ed"/>
    <p:sldId xmlns:r="http://schemas.openxmlformats.org/officeDocument/2006/relationships" id="257" r:id="R22aa8d477bf249b5"/>
    <p:sldId xmlns:r="http://schemas.openxmlformats.org/officeDocument/2006/relationships" id="258" r:id="R30b05f8b618c40e4"/>
    <p:sldId xmlns:r="http://schemas.openxmlformats.org/officeDocument/2006/relationships" id="259" r:id="R650bb1c57f324dcf"/>
    <p:sldId xmlns:r="http://schemas.openxmlformats.org/officeDocument/2006/relationships" id="260" r:id="R6da32e0846294d0d"/>
    <p:sldId xmlns:r="http://schemas.openxmlformats.org/officeDocument/2006/relationships" id="261" r:id="R8b5d7a01dfc44e41"/>
    <p:sldId xmlns:r="http://schemas.openxmlformats.org/officeDocument/2006/relationships" id="262" r:id="R9ceb5462d62c4709"/>
    <p:sldId xmlns:r="http://schemas.openxmlformats.org/officeDocument/2006/relationships" id="263" r:id="R620ffdf0299e4caa"/>
    <p:sldId xmlns:r="http://schemas.openxmlformats.org/officeDocument/2006/relationships" id="264" r:id="R174b47f88a0f461a"/>
    <p:sldId xmlns:r="http://schemas.openxmlformats.org/officeDocument/2006/relationships" id="265" r:id="Rc8d4928188f04ff0"/>
    <p:sldId xmlns:r="http://schemas.openxmlformats.org/officeDocument/2006/relationships" id="266" r:id="Rb23cda3f35cf4634"/>
    <p:sldId xmlns:r="http://schemas.openxmlformats.org/officeDocument/2006/relationships" id="267" r:id="Rc7e3374056a1469a"/>
    <p:sldId xmlns:r="http://schemas.openxmlformats.org/officeDocument/2006/relationships" id="268" r:id="R12cf5cba0fa349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cbf8849dd46fa" /><Relationship Type="http://schemas.openxmlformats.org/officeDocument/2006/relationships/slideMaster" Target="/ppt/slideMasters/slideMaster1.xml" Id="R10a883c5905a4f31" /><Relationship Type="http://schemas.openxmlformats.org/officeDocument/2006/relationships/notesMaster" Target="/ppt/notesMasters/notesMaster1.xml" Id="Re2840bbbad064cab" /><Relationship Type="http://schemas.openxmlformats.org/officeDocument/2006/relationships/presProps" Target="/ppt/presProps.xml" Id="R19075eed67144688" /><Relationship Type="http://schemas.openxmlformats.org/officeDocument/2006/relationships/tableStyles" Target="/ppt/tableStyles.xml" Id="R62395c1c8f2a461a" /><Relationship Type="http://schemas.openxmlformats.org/officeDocument/2006/relationships/slide" Target="/ppt/slides/slide1.xml" Id="R8320c8398b7d47ed" /><Relationship Type="http://schemas.openxmlformats.org/officeDocument/2006/relationships/slide" Target="/ppt/slides/slide2.xml" Id="R22aa8d477bf249b5" /><Relationship Type="http://schemas.openxmlformats.org/officeDocument/2006/relationships/slide" Target="/ppt/slides/slide3.xml" Id="R30b05f8b618c40e4" /><Relationship Type="http://schemas.openxmlformats.org/officeDocument/2006/relationships/slide" Target="/ppt/slides/slide4.xml" Id="R650bb1c57f324dcf" /><Relationship Type="http://schemas.openxmlformats.org/officeDocument/2006/relationships/slide" Target="/ppt/slides/slide5.xml" Id="R6da32e0846294d0d" /><Relationship Type="http://schemas.openxmlformats.org/officeDocument/2006/relationships/slide" Target="/ppt/slides/slide6.xml" Id="R8b5d7a01dfc44e41" /><Relationship Type="http://schemas.openxmlformats.org/officeDocument/2006/relationships/slide" Target="/ppt/slides/slide7.xml" Id="R9ceb5462d62c4709" /><Relationship Type="http://schemas.openxmlformats.org/officeDocument/2006/relationships/slide" Target="/ppt/slides/slide8.xml" Id="R620ffdf0299e4caa" /><Relationship Type="http://schemas.openxmlformats.org/officeDocument/2006/relationships/slide" Target="/ppt/slides/slide9.xml" Id="R174b47f88a0f461a" /><Relationship Type="http://schemas.openxmlformats.org/officeDocument/2006/relationships/slide" Target="/ppt/slides/slide10.xml" Id="Rc8d4928188f04ff0" /><Relationship Type="http://schemas.openxmlformats.org/officeDocument/2006/relationships/slide" Target="/ppt/slides/slide11.xml" Id="Rb23cda3f35cf4634" /><Relationship Type="http://schemas.openxmlformats.org/officeDocument/2006/relationships/slide" Target="/ppt/slides/slide12.xml" Id="Rc7e3374056a1469a" /><Relationship Type="http://schemas.openxmlformats.org/officeDocument/2006/relationships/slide" Target="/ppt/slides/slide13.xml" Id="R12cf5cba0fa349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980e56901b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8389c7f0b74b5b" /><Relationship Type="http://schemas.openxmlformats.org/officeDocument/2006/relationships/notesMaster" Target="/ppt/notesMasters/notesMaster1.xml" Id="Raa570702548d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93d2a8a85e49fa" /><Relationship Type="http://schemas.openxmlformats.org/officeDocument/2006/relationships/notesMaster" Target="/ppt/notesMasters/notesMaster1.xml" Id="R0f2de66f594e4e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605fd8a37489a" /><Relationship Type="http://schemas.openxmlformats.org/officeDocument/2006/relationships/notesMaster" Target="/ppt/notesMasters/notesMaster1.xml" Id="R83baa5df495e41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7d31cec474bef" /><Relationship Type="http://schemas.openxmlformats.org/officeDocument/2006/relationships/notesMaster" Target="/ppt/notesMasters/notesMaster1.xml" Id="R14f3f7f164904c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79268cd364946" /><Relationship Type="http://schemas.openxmlformats.org/officeDocument/2006/relationships/notesMaster" Target="/ppt/notesMasters/notesMaster1.xml" Id="Ra88998aba1f449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a498648fe422a" /><Relationship Type="http://schemas.openxmlformats.org/officeDocument/2006/relationships/notesMaster" Target="/ppt/notesMasters/notesMaster1.xml" Id="R5e18a4774ede46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1dabadc0f84df6" /><Relationship Type="http://schemas.openxmlformats.org/officeDocument/2006/relationships/notesMaster" Target="/ppt/notesMasters/notesMaster1.xml" Id="R1831f751b92644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5c4e20159c49b8" /><Relationship Type="http://schemas.openxmlformats.org/officeDocument/2006/relationships/notesMaster" Target="/ppt/notesMasters/notesMaster1.xml" Id="R8a1a4dcfd74941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c17be4e1054f9a" /><Relationship Type="http://schemas.openxmlformats.org/officeDocument/2006/relationships/notesMaster" Target="/ppt/notesMasters/notesMaster1.xml" Id="R6b0b677c05c34f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a15ffa15674279" /><Relationship Type="http://schemas.openxmlformats.org/officeDocument/2006/relationships/notesMaster" Target="/ppt/notesMasters/notesMaster1.xml" Id="R72f76c7ca10648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ea84a34c434498" /><Relationship Type="http://schemas.openxmlformats.org/officeDocument/2006/relationships/notesMaster" Target="/ppt/notesMasters/notesMaster1.xml" Id="R9337f39e4e2a44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d338e482ad43dc" /><Relationship Type="http://schemas.openxmlformats.org/officeDocument/2006/relationships/notesMaster" Target="/ppt/notesMasters/notesMaster1.xml" Id="R52e3916646d949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9eca1050d845ba" /><Relationship Type="http://schemas.openxmlformats.org/officeDocument/2006/relationships/notesMaster" Target="/ppt/notesMasters/notesMaster1.xml" Id="Rb02694bc717f43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necesidad de autonomía del huésped. NavInside no es un mapa estático: interpreta la ubicación y acompaña el recorrido.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imagen conceptual generada para esta presentación, 2026-09-01.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problemática es operacional y de experiencia: la orientación interior no está resuelta por el GPS convencional.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flujo de izquierda a derecha. La propuesta combina datos del edificio, estimación de ubicación y un motor de rutas en una sola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Vincular la fundamentación con los criterios académicos: pertinencia, integración de competencias, evidencia y capacidad de transferencia. APT corresponde a Asignatura de Portafolio de Título.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https://diseno.duoc.cl/rutasformativas/2019/diseno-grafico/portafolio-de-titulo-29.html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primero el objetivo general y luego los cinco resultados específicos. Destacar que la validación es parte del producto, no una etapa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claramente alcance y escalabilidad. La versión 1.0 tiene límites concretos; la arquitectura permite reutilizar el núcleo sin reescribir 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prioridad MoSCoW. Ocho épicas son indispensables para la experiencia de navegación; la administración avanzada se mantiene como Should.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Documento_Epicas_Usuario_NavInside.docx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las tres zonas: usuarios e infraestructura, aplicación móvil y servicios de administración. API significa interfaz de programación de aplicaciones; HTTPS corresponde al protocolo seguro de transferencia web; SQL es lenguaje de consulta estructurado. Aclarar que las conexiones del diagrama no usan puntas de flecha y que el backend Supabase sigue siendo una propuesta.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que el riesgo no está en el algoritmo, sino en la precisión de mapas, calibración, permisos y pruebas reales. La factibilidad depende de acceso coordinado al resort.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Recalcar que se utiliza Kanban, no Scrum. Gonzalo Allende cumple el rol de líder del proyecto y coordina el flujo general. Los límites WIP evitan iniciar demasiado trabajo y hacen visibles los bloqueos. Cada integrante tiene un foco, pero la calidad es colectiva.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esta lámina como la evidencia de aplicación de Kanban en NavInside. Explicar el sistema pull, los límites WIP y la visualización de bloqueos. Las tarjetas son una representación del flujo de trabajo del proyecto; Kanban se utiliza como metodología central y no se trabaja por sprints.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plan como entregas incrementales, no como fases aisladas. Cada tramo termina con un resultado que puede revisarse en el tablero.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valor y compromiso: autonomía para el usuario, alivio operativo y una base escalable. El siguiente hito concreto es la validación en terreno.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8139b8bd44d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32f1c5d5524668" /><Relationship Type="http://schemas.openxmlformats.org/officeDocument/2006/relationships/slideLayout" Target="/ppt/slideLayouts/slideLayout1.xml" Id="Raa2f8ab81b4f4b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2f8ab81b4f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065dd0d574dc2" /><Relationship Type="http://schemas.openxmlformats.org/officeDocument/2006/relationships/image" Target="/ppt/media/image.png" Id="Ra1f00601c59642ee" /><Relationship Type="http://schemas.openxmlformats.org/officeDocument/2006/relationships/image" Target="/ppt/media/image2.png" Id="R560be1e255bd4ada" /><Relationship Type="http://schemas.openxmlformats.org/officeDocument/2006/relationships/notesSlide" Target="/ppt/notesSlides/notesSlide1.xml" Id="R4598840169d949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090a8e0564468" /><Relationship Type="http://schemas.openxmlformats.org/officeDocument/2006/relationships/image" Target="/ppt/media/image3.png" Id="R2447b2e95e6345b6" /><Relationship Type="http://schemas.openxmlformats.org/officeDocument/2006/relationships/notesSlide" Target="/ppt/notesSlides/notesSlide2.xml" Id="R90271d5816cc42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6888350144c9" /><Relationship Type="http://schemas.openxmlformats.org/officeDocument/2006/relationships/image" Target="/ppt/media/image4.png" Id="Rf307f8390aa9456f" /><Relationship Type="http://schemas.openxmlformats.org/officeDocument/2006/relationships/notesSlide" Target="/ppt/notesSlides/notesSlide3.xml" Id="R8a859b13630845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1788996a841db" /><Relationship Type="http://schemas.openxmlformats.org/officeDocument/2006/relationships/image" Target="/ppt/media/image5.png" Id="R7fcae95fcd8f40a0" /><Relationship Type="http://schemas.openxmlformats.org/officeDocument/2006/relationships/notesSlide" Target="/ppt/notesSlides/notesSlide4.xml" Id="Rdb90ba27cb514b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a401aa51443ba" /><Relationship Type="http://schemas.openxmlformats.org/officeDocument/2006/relationships/image" Target="/ppt/media/image6.png" Id="R299eb8c7c7de4a24" /><Relationship Type="http://schemas.openxmlformats.org/officeDocument/2006/relationships/notesSlide" Target="/ppt/notesSlides/notesSlide5.xml" Id="R6b097806b9ae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468516c5749fc" /><Relationship Type="http://schemas.openxmlformats.org/officeDocument/2006/relationships/image" Target="/ppt/media/image7.png" Id="R408afea990c74f80" /><Relationship Type="http://schemas.openxmlformats.org/officeDocument/2006/relationships/notesSlide" Target="/ppt/notesSlides/notesSlide6.xml" Id="R0829ceffa2fa47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df66b37b64f90" /><Relationship Type="http://schemas.openxmlformats.org/officeDocument/2006/relationships/image" Target="/ppt/media/image8.png" Id="R51361eec190b4fad" /><Relationship Type="http://schemas.openxmlformats.org/officeDocument/2006/relationships/notesSlide" Target="/ppt/notesSlides/notesSlide7.xml" Id="R7da02cdd46f64a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f6f82d7c64ad3" /><Relationship Type="http://schemas.openxmlformats.org/officeDocument/2006/relationships/image" Target="/ppt/media/image9.png" Id="R612bcc7ac3104f6f" /><Relationship Type="http://schemas.openxmlformats.org/officeDocument/2006/relationships/notesSlide" Target="/ppt/notesSlides/notesSlide8.xml" Id="Rea5cae8c93fc4e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7cda87bc54e47" /><Relationship Type="http://schemas.openxmlformats.org/officeDocument/2006/relationships/image" Target="/ppt/media/image10.png" Id="R681e21203c914cfd" /><Relationship Type="http://schemas.openxmlformats.org/officeDocument/2006/relationships/notesSlide" Target="/ppt/notesSlides/notesSlide9.xml" Id="R22d54b90a92d41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8205cff0e495c" /><Relationship Type="http://schemas.openxmlformats.org/officeDocument/2006/relationships/image" Target="/ppt/media/image11.png" Id="R9ff0034587db4a60" /><Relationship Type="http://schemas.openxmlformats.org/officeDocument/2006/relationships/notesSlide" Target="/ppt/notesSlides/notesSlide10.xml" Id="R496b8633cce843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5fcd4fbf0434b" /><Relationship Type="http://schemas.openxmlformats.org/officeDocument/2006/relationships/image" Target="/ppt/media/image12.png" Id="R0112d72c5ee54665" /><Relationship Type="http://schemas.openxmlformats.org/officeDocument/2006/relationships/notesSlide" Target="/ppt/notesSlides/notesSlide11.xml" Id="Rf3f7d87961864a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016041410420b" /><Relationship Type="http://schemas.openxmlformats.org/officeDocument/2006/relationships/image" Target="/ppt/media/image13.png" Id="R0aafca733864450e" /><Relationship Type="http://schemas.openxmlformats.org/officeDocument/2006/relationships/notesSlide" Target="/ppt/notesSlides/notesSlide12.xml" Id="R9a4d0848d8a24a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1c3065bbe4513" /><Relationship Type="http://schemas.openxmlformats.org/officeDocument/2006/relationships/image" Target="/ppt/media/image14.png" Id="R53b48fdefe9346a7" /><Relationship Type="http://schemas.openxmlformats.org/officeDocument/2006/relationships/notesSlide" Target="/ppt/notesSlides/notesSlide13.xml" Id="Rdd7b808ca87042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7BA22-2285-4449-91CD-467E6B0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3C3C2-E0A7-4650-93C2-9620CF6F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1840B-871A-4D41-8B25-F85A2E2B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E8011-FD1A-4094-B061-E7E50FA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HIPPOCAMPUS RESORT &amp; CLUB  ×  NAVINSIDE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2F861-A8F1-4154-8283-316B5188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66775"/>
            <a:ext cx="2514600" cy="2952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00601c59642ee"/>
          <a:stretch xmlns:a="http://schemas.openxmlformats.org/drawingml/2006/main"/>
        </p:blipFill>
        <p:spPr>
          <a:xfrm xmlns:a="http://schemas.openxmlformats.org/drawingml/2006/main">
            <a:off x="628650" y="1031391"/>
            <a:ext cx="2247900" cy="26235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69C8A-13BF-4477-9798-5BE1C072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02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3E"/>
                </a:solidFill>
              </a:defRPr>
            </a:pPr>
            <a:r>
              <a:rPr sz="2175" b="1" i="0">
                <a:solidFill>
                  <a:srgbClr val="102A3E"/>
                </a:solidFill>
              </a:rPr>
              <a:t>Navegación interior inteligente,</a:t>
            </a:r>
          </a:p>
          <a:p xmlns:a="http://schemas.openxmlformats.org/drawingml/2006/main">
            <a:pPr algn="l">
              <a:defRPr sz="2175" b="1" i="0">
                <a:solidFill>
                  <a:srgbClr val="102A3E"/>
                </a:solidFill>
              </a:defRPr>
            </a:pPr>
            <a:r>
              <a:rPr sz="2175" b="1" i="0">
                <a:solidFill>
                  <a:srgbClr val="102A3E"/>
                </a:solidFill>
              </a:rPr>
              <a:t>accesible y multilingüe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394B4-DE99-40DC-8B90-10414D7B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253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A7A"/>
                </a:solidFill>
              </a:defRPr>
            </a:pPr>
            <a:r>
              <a:rPr sz="1425" b="0" i="0">
                <a:solidFill>
                  <a:srgbClr val="526A7A"/>
                </a:solidFill>
              </a:rPr>
              <a:t>Aplicación Android para orientar a huéspedes y trabajadores dentro de Hippocampus mediante mapas digitales, posicionamiento híbrido y rutas calculadas con A*.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CBA7A-2174-4C1E-8000-CE57D52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14850"/>
            <a:ext cx="2209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797F1-57BF-465A-AEB3-956AAA4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339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PROYECTO APT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4A95D-6AEB-4BBD-B102-030D3F3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519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F5E"/>
                </a:solidFill>
              </a:defRPr>
            </a:pPr>
            <a:r>
              <a:rPr sz="1200" b="1" i="0">
                <a:solidFill>
                  <a:srgbClr val="123F5E"/>
                </a:solidFill>
              </a:rPr>
              <a:t>Gonzalo Allende · Cristian Culipichun · Pedro Navarro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81723-91F6-4C67-9505-CEDFD02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A8C98"/>
                </a:solidFill>
              </a:defRPr>
            </a:pPr>
            <a:r>
              <a:rPr sz="1125" b="0" i="0">
                <a:solidFill>
                  <a:srgbClr val="7A8C98"/>
                </a:solidFill>
              </a:rPr>
              <a:t>11 de agosto — 20 de diciembre de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DF6FE-B038-476B-A9B4-7A557331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"/>
            <a:ext cx="5638800" cy="61912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be1e255bd4ada"/>
          <a:srcRect xmlns:a="http://schemas.openxmlformats.org/drawingml/2006/main" l="0" t="19103" r="0" b="191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33375"/>
            <a:ext cx="5638800" cy="6191250"/>
          </a:xfrm>
          <a:prstGeom xmlns:a="http://schemas.openxmlformats.org/drawingml/2006/main" prst="roundRect">
            <a:avLst>
              <a:gd name="adj" fmla="val 405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66AA2-557B-4D95-9954-AA315812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43575"/>
            <a:ext cx="28003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7F9FE-9AD5-4AA5-BDE9-68BEFC2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388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Del plano a una guía activa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E7C46-0FFE-4243-A70B-872EDD28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201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B34DF-5172-4BE0-8691-036F287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8191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E61BD-E040-4F65-A2D4-2604418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62940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3A527-6639-4B6F-8CD6-AD8CD525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81775"/>
            <a:ext cx="1005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APT = Asignatura de Portafolio de Título · A* = algoritmo A estrella para búsqueda de rutas</a:t>
            </a:r>
          </a:p>
        </p:txBody>
      </p:sp>
    </p:spTree>
    <p:extLst>
      <p:ext uri="{BB962C8B-B14F-4D97-AF65-F5344CB8AC3E}">
        <p14:creationId xmlns:p14="http://schemas.microsoft.com/office/powerpoint/2010/main" val="1524234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0AE54-B4F4-485C-8D6E-D876E708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3CBAF-F70F-446F-9FC5-6464A23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C5A9F-DBB7-4CDC-84C3-254A6F55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9A7ED-F408-4431-A218-80D70010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782D-3349-40F1-9270-EA939DC1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Problemática: el GPS deja un vacío dentro del resort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82A91-64BC-45E7-A3B3-CAAF28C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7b2e95e6345b6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B4C3E-0022-4999-ADBB-A8409180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C1464-292F-4E7E-8E17-B88832DE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A0D87-33DC-4C04-BEA4-76CDB2B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4810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56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2F49"/>
                </a:solidFill>
              </a:defRPr>
            </a:pPr>
            <a:r>
              <a:rPr sz="2325" b="1" i="0">
                <a:solidFill>
                  <a:srgbClr val="0B2F49"/>
                </a:solidFill>
              </a:rPr>
              <a:t>El Sistema de Posicionamiento Global (GPS) pierde precisión al ingresar a edificios.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DEE69-E121-4EA8-9E05-98CFA92F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90825"/>
            <a:ext cx="4810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26A7A"/>
                </a:solidFill>
              </a:defRPr>
            </a:pPr>
            <a:r>
              <a:rPr sz="1575" b="0" i="0">
                <a:solidFill>
                  <a:srgbClr val="526A7A"/>
                </a:solidFill>
              </a:rPr>
              <a:t>En un recinto con varios niveles, servicios y recorridos, ese vacío se transforma en consultas, demoras y dependencia del personal.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AA0B2-3254-4763-B909-CDD6B85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4810125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50017-8A78-4D95-9B90-3BB24821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B7C6"/>
                </a:solidFill>
              </a:defRPr>
            </a:pPr>
            <a:r>
              <a:rPr sz="1275" b="1" i="0">
                <a:solidFill>
                  <a:srgbClr val="25B7C6"/>
                </a:solidFill>
              </a:rPr>
              <a:t>Impacto 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D8DE5-85B8-441F-9D66-19CC4571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Mayor carga de orientación al personal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Experiencia desigual para visitantes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Dificultad para encontrar rutas accesibles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114C5-382F-43C2-B41A-4427788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62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D307F-BC98-43BF-81BE-EE6B6F2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811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EB7FB-BA87-49AD-BAA9-70F3962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43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Múltiples niveles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3E98F-FA2F-4656-B6DB-F8EFF60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05000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Niveles 1, 3, 4 y 5 con conexiones verticales.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181725" y="20764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6AECA-4315-48F2-9726-559231B9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19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A1A58-6577-4410-A5D8-F0ADC468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384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15A45-426F-4881-A49A-B09705B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03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Distribución desconocida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BC9EF-DB25-413C-8927-08413FB2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6227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El visitante no reconoce pasillos, accesos ni servicios.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6181725" y="313372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C9633-5154-4277-88E3-8F56B95E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FDBD8-1E7C-4E43-B6F3-33465A08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957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653D3-CC61-4E9E-8852-AB529A9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Idioma y accesibilidad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AA9B7-E4E4-4910-8E37-E4FD679F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19550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Se requieren instrucciones comprensibles y rutas sin barreras.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6181725" y="41910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81BBF5-E7F3-4C50-8116-E7368787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33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31D0C-AB24-42D3-B839-28FBE94D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529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8DB86-576E-4934-A133-33A76B01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14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Conectividad inestable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71649-D248-47F4-A4CE-ED06245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76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La navegación esencial no puede depender de Internet.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55A133-1816-46E7-80A7-1551D04D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4A088-1890-413D-82D2-B5696920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FA960-0D62-4F1F-8100-FFEBEFC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EC7FC8-AF78-4F46-B87D-4B00074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GPS = Sistema de Posicionamiento Global</a:t>
            </a:r>
          </a:p>
        </p:txBody>
      </p:sp>
    </p:spTree>
    <p:extLst>
      <p:ext uri="{BB962C8B-B14F-4D97-AF65-F5344CB8AC3E}">
        <p14:creationId xmlns:p14="http://schemas.microsoft.com/office/powerpoint/2010/main" val="931057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A036AC-A813-4CCE-93ED-4E9D5536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B90A0-5AFC-43F4-A66D-83568BC5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C0090-7728-4E0A-89F1-4E28F49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F95BA-92DF-4995-93D4-54CF1271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4968A-AF9D-4891-8DA5-08A47D0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11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Descripción: NavInside convierte el plano en una guía activa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A81D2-03C8-4C16-B00B-CAFE7234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7f8390aa9456f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CA8DA-2AB9-421C-8AA6-01A3AC90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008BA-92E2-4609-B31B-7FA4AA3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EA149-C9A0-4F30-8B88-264A803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859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F5E"/>
                </a:solidFill>
              </a:defRPr>
            </a:pPr>
            <a:r>
              <a:rPr sz="1725" b="1" i="0">
                <a:solidFill>
                  <a:srgbClr val="123F5E"/>
                </a:solidFill>
              </a:rPr>
              <a:t>La experiencia del usuario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1066800" y="2466975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D8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C98AF-4EA7-43F3-B7E5-611E5F17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91377-7338-4FDF-8B42-E8FA20D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F0B2B-1863-4839-ADCA-12EBFB2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Ubicar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24BEB-B3CA-433F-BF39-33F9488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Wi‑Fi, IMU, QR/NFC o selección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E17DC-9454-4F9E-BB3E-0ECC45E8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2E520-463F-4C73-A985-C0E16C02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F6A2A-3C00-4EAB-9B1C-7E56CF5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Buscar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90305-E68D-44CE-A5BD-8EAE5AB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Destino o punto de interés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B48B5-9993-4737-8514-92952B08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48D04-5F08-4F7A-A465-D745D8F0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E056E-6A8E-4E3B-9C6F-9C4D39E3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Calcular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CED21-5B86-4DD2-8922-CB22C51E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Grafo navegable y algoritmo A*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9EAAA-96E1-47EB-858A-C03980FC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7B019-6153-4082-9BF3-EE02502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EAD3A-3A2D-48B7-A1CF-9956B17D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Guiar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930DD-E695-4A87-8993-79F8A850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Ruta visual e instrucciones paso a paso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4DBBC-4672-4BFA-A8E6-68658714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8A1DB4-6816-4709-B7BE-9BA550D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5F974-A5D2-4C74-95F7-5EF62C5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Recalcular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0B4DB3-B2B8-478A-9129-060984CD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Corrección ante desvíos o bloqueos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DF2AFA-FFAE-4194-855B-9B31B0E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57725"/>
            <a:ext cx="11315700" cy="1323975"/>
          </a:xfrm>
          <a:prstGeom xmlns:a="http://schemas.openxmlformats.org/drawingml/2006/main" prst="roundRect">
            <a:avLst>
              <a:gd name="adj" fmla="val 11511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D0710-9B5A-40FE-A04D-80F99D3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B7C6"/>
                </a:solidFill>
              </a:defRPr>
            </a:pPr>
            <a:r>
              <a:rPr sz="1275" b="1" i="0">
                <a:solidFill>
                  <a:srgbClr val="25B7C6"/>
                </a:solidFill>
              </a:rPr>
              <a:t>Núcleo funcional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7BD1A-612B-4219-83FA-3A10E42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Mapas vectoriales + directorio de POI + posicionamiento híbrido + rutas multinivel + accesibilidad + tres idiomas + operación esencial sin conexión.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CE5470-4BEA-4F4D-A6FC-635C3035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6353F-7CEE-46D8-BA16-AD501FDD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838502-C4D3-4200-AFA0-9C4020E5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8F4E24-F608-420C-8F91-FBD82462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IMU = unidad inercial</a:t>
            </a:r>
          </a:p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QR = respuesta rápida · NFC = comunicación cercana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1747837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671769-FDB4-4ABA-9B6E-63D89D5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CC927-D475-4242-921E-27E2A08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1A14F-DB23-442D-A515-1DB83B9D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B30D6-0037-43ED-9C5B-7FD379B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82824-C5DB-4B2A-9DF8-9C0E646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EC2C3-53E8-49C1-98B1-B87B595D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ae95fcd8f40a0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EF7D3-155C-4222-838A-09A8E7F5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61D2A-4CB5-4066-86E2-3684738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1A004-5FDF-4855-8D83-249E068D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2F49"/>
                </a:solidFill>
              </a:defRPr>
            </a:pPr>
            <a:r>
              <a:rPr sz="2625" b="1" i="0">
                <a:solidFill>
                  <a:srgbClr val="0B2F49"/>
                </a:solidFill>
              </a:rPr>
              <a:t>Fundamentación APT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3F945-04A7-46A3-83D9-D76B5ECF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57325"/>
            <a:ext cx="1114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2F49"/>
                </a:solidFill>
              </a:defRPr>
            </a:pPr>
            <a:r>
              <a:rPr sz="2025" b="1" i="0">
                <a:solidFill>
                  <a:srgbClr val="0B2F49"/>
                </a:solidFill>
              </a:rPr>
              <a:t>NavInside articula competencias técnicas y de gestión en un producto demostrable para una organización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817CB-57BF-4658-93D2-B9167ABB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574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PERTINENCIA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9A678-C4C5-4362-825B-AFFD9AB6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908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Responde a una necesidad concreta de orientación y autonomía dentro de Hippocampus Resort &amp; Club.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5857875" y="245745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438150" y="3781425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17790-F93D-4C98-9E1B-B6D6804B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INTEGRACIÓN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A3A27-6C76-4C4F-A131-3008EB4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908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Combina desarrollo móvil, arquitectura, datos, algoritmos, sensores, experiencia de usuario (UX), accesibilidad y seguridad.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6153150" y="3781425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5E195-FF39-49FE-9F30-314447C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VALIDACIÓN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E1B2E-A5C8-476C-9923-88DF4865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29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Define criterios de aceptación, pruebas funcionales, rutas reales y evidencia trazable por resultado.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5857875" y="409575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B9857-08B7-4377-AC78-BD2FEC7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9A45"/>
                </a:solidFill>
              </a:defRPr>
            </a:pPr>
            <a:r>
              <a:rPr sz="1050" b="1" i="0">
                <a:solidFill>
                  <a:srgbClr val="C99A45"/>
                </a:solidFill>
              </a:rPr>
              <a:t>TRANSFERENCIA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372E9-DB79-437A-9367-6858BE50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29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El núcleo puede reutilizarse en hoteles, hospitales, universidades y centros comerciales.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DDEBA-FAA0-480D-9FB5-6D31A878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00700"/>
            <a:ext cx="561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A8165-5FAE-44C3-86EB-8676B41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197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Resultado APT: solución instalable, documentada y demostrable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FBBBE-86DB-45EE-B16A-59DED49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AA7AA-222B-4F18-84E1-F6DB041E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F0F032-8CE8-444E-88AB-CAF24FFD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DB16F-9AA7-486F-8ECF-3E78D17E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UX = experiencia de usuario</a:t>
            </a:r>
          </a:p>
        </p:txBody>
      </p:sp>
    </p:spTree>
    <p:extLst>
      <p:ext uri="{BB962C8B-B14F-4D97-AF65-F5344CB8AC3E}">
        <p14:creationId xmlns:p14="http://schemas.microsoft.com/office/powerpoint/2010/main" val="639570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39BBE4-4EA7-4A23-8E34-58724264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A4156-3087-4C43-AFFF-FE8B64B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944D2-D439-4973-975F-6F99FEDD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18036-7FAE-46E2-8735-CAD79FF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B5089-24EA-46C1-856E-182AC255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86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Objetivos: entregar navegación interior completa en Android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33E68-811F-443E-B87E-B937752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eb8c7c7de4a24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5C4AD-A096-4C60-BC7D-2E4BE4DD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BA933-B106-4A54-BFDA-3E9D1A8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F04D5-3A80-4CA1-A104-33DDBB5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113157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3DAB4-6C0B-4462-9D81-A70374F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OBJETIVO GENERAL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ED83C-463C-417D-9881-2D98017F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Construir una aplicación que determine la posición aproximada, permita elegir un destino y guíe al usuario por rutas accesibles y multilingües dentro de Hippocampus.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D13CA-93FA-46DA-B751-2EF954E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79052-2C94-4A99-84E4-9FA4524D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8F556-EFC4-4A36-8AAD-95047F37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Digitalizar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B2953-8F5A-4074-B595-89EAB9EA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Mapas, niveles, POI y grafo navegable.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34DAD-3DEA-4A3E-8AE6-DE9A895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610E1-BF4B-438C-BD16-D12AA29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8ED4E-11BB-4B71-9511-271006C2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Calcular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28099-F0BC-4D12-A8B7-03ED397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Rutas eficientes con A* y restricciones.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C8584-FB9D-4293-B0DD-C14A7FFE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29B81-CBF3-476B-B99A-B575E6F6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F70E9-5CE3-4F1B-AC98-6B0BEC3F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Posicionar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01DB8-ACA5-436F-BED4-4BC49C9F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Fusionar Wi‑Fi, IMU y puntos QR/NFC.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DAE22-21B3-4B16-9D77-E0B1F2B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99EF7-D166-47CC-B1A5-56EA8455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01D1B-8A34-43E7-9890-5EBFF10F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Guiar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A5B43-B05E-4525-9098-66CADE4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Paso a paso, recálculo y operación offline.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4983E-874D-45EF-B32F-596987E2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24451-C8AC-459E-B2CD-93A912D4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81AAF-65B7-4B0B-8E38-BF9F6B8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Validar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16DDEF-3459-45BA-AC57-09C18235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5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Funcionalidad, usabilidad y accesibilidad en terreno.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38150" y="5343525"/>
            <a:ext cx="1131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E055FD-91F5-4E2E-85CA-8330A25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F5E"/>
                </a:solidFill>
              </a:defRPr>
            </a:pPr>
            <a:r>
              <a:rPr sz="1500" b="1" i="0">
                <a:solidFill>
                  <a:srgbClr val="123F5E"/>
                </a:solidFill>
              </a:rPr>
              <a:t>Criterio común: cada objetivo debe producir evidencia verificable y quedar trazado en el tablero Kanban.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CAA3C5-5534-40FB-BBE6-F89142B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2B594-6260-41FD-9669-95C9010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3D672D-BF2F-421A-BE37-4B7A649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89C2D5-E644-48F7-A966-208F82B5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IMU = unidad inercial</a:t>
            </a:r>
          </a:p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QR = respuesta rápida · NFC = comunicación cercana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562689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35855D-0BB1-49F5-BC0C-913DBFC1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0DD86-676B-49EA-A08C-90E33EFA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6358B-6646-49B6-A868-F75B4E3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99C0A-E2C3-4067-A700-1FFB6F5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5EE72-727B-43EA-8017-55EA07B9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Alcance v1.0 y escalabilidad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BEBC1-D8CB-428E-B8D2-C14F3749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afea990c74f80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4E08-BDBE-4EE0-AFFB-662C7DFA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9E3EB-78D5-4477-84CC-29617648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84FF4-2C54-400D-B41A-911B2C6D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ALCANCE V1.0 · HIPPOCAMPUS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CB849-0556-467C-8E33-9C0EF10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203D3-4165-4EE1-9657-7598C241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niveles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952AF-FCD6-4976-B45D-A66DA18E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14525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B23DF-C054-4FC3-A5A1-C30A812C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479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POI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5A9EC-5EA9-45A8-AD38-E796F21E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145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FEA71-C76E-4FDC-9FB0-B671801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idiomas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AB230-AEC9-48A8-9793-93A90DB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4143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Android inicial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Mapas vectoriales y grafo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Posicionamiento híbrido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A*, recálculo y rutas accesibles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Operación esencial offline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9A295-762B-4D61-B0B1-77D3CC6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43243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5B11C-8FBB-4E9B-A908-E327D9C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Fuera de alcance v1: sistema iOS de Apple, GPS exterior, reservas, pagos e integración hotelera.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1713C-5611-4DB5-9FD1-D4D63D6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954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ESCALABILIDAD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60079-9F3D-48B3-B12E-E6D0A21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81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1C48B-13EF-496E-BA17-8F4EBD1E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00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834FA-79A8-467E-A757-073603A4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716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Hippocampus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E3C58-893C-4004-B959-28DA5C7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526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Primera implementación y validación en terreno.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6057900" y="24574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64A08-F4DD-4C15-AFDE-84B57E0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48EA7-8494-47E6-9CF9-4074171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575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A112F-657B-470A-8B43-B8A397B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Nuevos edificios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FE741-52FB-4A7F-B128-69163A0E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Mismo motor; cambian mapas, grafo, POI y calibraciones.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6057900" y="37147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52DE31-0E44-43A1-AFBE-678177C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BDC5DD-781C-41D7-A148-E91F65E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D516D4-8BA4-4E54-98DB-370EFAA9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862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Operación multisede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50097-5DE8-4467-B759-88DA761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672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Entidades separadas por site_id y publicación por versión.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AFB9D-B3A5-456A-9AD0-4D2B5E35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19750"/>
            <a:ext cx="5476875" cy="333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03B3CA-4D73-42B1-A326-DB2088C8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38800"/>
            <a:ext cx="528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Hoteles · hospitales · universidades · centros comerciales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60C27B-4F41-44F9-83E6-7F347BE0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82D622-4119-4140-9792-73517227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0700E5-DE14-43EC-BDDD-9A33944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3E80B0-13EF-419D-94A5-8B205AD8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GPS = Sistema de Posicionamiento Global</a:t>
            </a:r>
          </a:p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iOS = sistema operativo móvil de Apple · v1.0 = versión 1.0</a:t>
            </a:r>
          </a:p>
        </p:txBody>
      </p:sp>
    </p:spTree>
    <p:extLst>
      <p:ext uri="{BB962C8B-B14F-4D97-AF65-F5344CB8AC3E}">
        <p14:creationId xmlns:p14="http://schemas.microsoft.com/office/powerpoint/2010/main" val="2086134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8120E-EBCC-48DA-9402-13639333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1465C-538C-4C86-8433-9057751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38AD3-5144-4C6C-B6C1-AF181F7A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74D42-0A45-473C-BD00-3A3CF63E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2387D-0997-459D-A090-DA212FF4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Priorización de épicas: primero el núcleo navegable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B6BFA-97A2-4383-AFF5-1346093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61eec190b4fad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A3A2F-7046-470A-B893-B94C84B4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11133-CBA1-4322-9763-1F06BF9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F78F2-38B2-4217-89AB-290A69D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38E5C-1FCA-4126-9042-C821CA94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288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épicas MUST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31308-3C08-4902-91D8-F74E67E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954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C99A45"/>
                </a:solidFill>
              </a:defRPr>
            </a:pPr>
            <a:r>
              <a:rPr sz="3000" b="1" i="0">
                <a:solidFill>
                  <a:srgbClr val="C99A45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4C503-C0EE-4C2B-A4D5-786C5DE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288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épica SHOULD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665AD-83C5-4F05-9BE1-FC5E6BAC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76525"/>
            <a:ext cx="3667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MoSCoW —Must, Should, Could y Won’t— concentra el esfuerzo en una versión útil antes de ampliar la administración de contenidos.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E482B-EAC3-4A2B-AB7A-D13EB523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36671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E3DB7-AE8A-40EC-8127-EC93D295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B7C6"/>
                </a:solidFill>
              </a:defRPr>
            </a:pPr>
            <a:r>
              <a:rPr sz="1200" b="1" i="0">
                <a:solidFill>
                  <a:srgbClr val="25B7C6"/>
                </a:solidFill>
              </a:rPr>
              <a:t>Regla de prioridad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8573F-CAA5-4EBB-A6F3-D316AB4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0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Primero: ubicar, calcular y guiar.</a:t>
            </a:r>
          </a:p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Después: optimizar la gestión y evolución del contenido.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1128D-363D-4C2A-98E3-E4680F55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95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MUST · VERSIÓN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7599D-8978-4AF1-BAC0-A46ABDB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71675"/>
            <a:ext cx="31432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EP‑01 Mapas y puntos de interés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EP‑02 Posicionamiento híbrido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EP‑03 Cálculo inteligente de rutas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EP‑04 Navegación y recálculo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0A0C5-79E5-4C3F-96CE-AF5C62BE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71675"/>
            <a:ext cx="33813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EP‑05 Accesibilidad e inclusión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EP‑06 Experiencia multilingüe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EP‑07 Operación offline y sincronización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EP‑09 Privacidad, calidad y entrega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695825" y="4810125"/>
            <a:ext cx="6734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C19AB-210D-40A9-8411-C4D0261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387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SHOULD · EVOLUCIÓN CONTROLADA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74A06-6A56-4D8F-8683-EF7615A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483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EP‑08 Gestión y evolución del contenido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3954F-6E56-4556-9D12-2DB6F716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734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Catálogo priorizado: 9 épicas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FFA1D-6121-432F-8B0C-C63BABB4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EF1CF-9286-42A7-9D31-83481E1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AD696-E288-4888-ACD0-0E40F302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DDD14-EDAB-492B-B29C-3DD379A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 i="0">
                <a:solidFill>
                  <a:srgbClr val="FFFFFF"/>
                </a:solidFill>
              </a:defRPr>
            </a:pPr>
            <a:r>
              <a:rPr sz="638" b="1" i="0">
                <a:solidFill>
                  <a:srgbClr val="FFFFFF"/>
                </a:solidFill>
              </a:rPr>
              <a:t>APT = Asignatura de Portafolio de Título · EP = épica · MoSCoW = Must (obligatorio), Should (recomendable), Could (deseable) y Won’t (fuera de esta versión)</a:t>
            </a:r>
          </a:p>
        </p:txBody>
      </p:sp>
    </p:spTree>
    <p:extLst>
      <p:ext uri="{BB962C8B-B14F-4D97-AF65-F5344CB8AC3E}">
        <p14:creationId xmlns:p14="http://schemas.microsoft.com/office/powerpoint/2010/main" val="1010512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bcc7ac3104f6f"/>
          <a:stretch xmlns:a="http://schemas.openxmlformats.org/drawingml/2006/main"/>
        </p:blipFill>
        <p:spPr>
          <a:xfrm xmlns:a="http://schemas.openxmlformats.org/drawingml/2006/main">
            <a:off x="1523543" y="0"/>
            <a:ext cx="9154438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B08B6-BB20-4082-AC98-42A19AA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3DE15-C40D-47E4-B904-8B136597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A7635-AD8C-4CA0-BFF3-8E5BA7C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572250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3EA7E-0D54-427F-9C16-C3558666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24625"/>
            <a:ext cx="1024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4FAFC"/>
                </a:solidFill>
              </a:defRPr>
            </a:pPr>
            <a:r>
              <a:rPr sz="750" b="1" i="0">
                <a:solidFill>
                  <a:srgbClr val="F4FAFC"/>
                </a:solidFill>
              </a:rPr>
              <a:t>API = interfaz de programación · HTTPS = protocolo web seguro · POI = punto de interés · A* = algoritmo de rutas</a:t>
            </a:r>
          </a:p>
          <a:p xmlns:a="http://schemas.openxmlformats.org/drawingml/2006/main">
            <a:pPr algn="l">
              <a:defRPr sz="750" b="1" i="0">
                <a:solidFill>
                  <a:srgbClr val="F4FAFC"/>
                </a:solidFill>
              </a:defRPr>
            </a:pPr>
            <a:r>
              <a:rPr sz="750" b="1" i="0">
                <a:solidFill>
                  <a:srgbClr val="F4FAFC"/>
                </a:solidFill>
              </a:rPr>
              <a:t>IMU = medición inercial · QR = respuesta rápida · SVG = gráficos vectoriales · JSON = notación de objetos JavaScript · SQL = lenguaje de consulta</a:t>
            </a:r>
          </a:p>
        </p:txBody>
      </p:sp>
    </p:spTree>
    <p:extLst>
      <p:ext uri="{BB962C8B-B14F-4D97-AF65-F5344CB8AC3E}">
        <p14:creationId xmlns:p14="http://schemas.microsoft.com/office/powerpoint/2010/main" val="721338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9A6274-3D40-4D4A-884E-222A8BB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9BB89-C722-43B5-B7AD-3FB9B03E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AFA31-B9F1-4993-9715-24C7F5B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14CC0-E0B8-4F81-8B09-1A92616C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765FA-5324-483B-9A7D-33A29E3F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7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Factibilidad y recursos: tecnología disponible, validación exigente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736D6-30FF-497B-9402-199BFAFC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e21203c914cfd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8E709-FAA1-453E-BE68-0AF1ED3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C25B7-D214-49E0-BB0B-A037021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EA07B-5C72-439B-A174-CF6464E9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718CF-95BC-41B9-B7E8-181D00F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288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integrantes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873A2-ACED-4D9D-B1D6-12C57B5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3258A-7B1E-400F-A1CE-83B8C639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28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semanas de trabajo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D0659-7EC1-4091-9EAD-DBA9E3E1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954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C99A45"/>
                </a:solidFill>
              </a:defRPr>
            </a:pPr>
            <a:r>
              <a:rPr sz="3000" b="1" i="0">
                <a:solidFill>
                  <a:srgbClr val="C99A45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3FBAA-7DC3-4155-A398-1114A087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28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niveles a digitalizar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70B58-39AD-4DC6-BF9E-46B57E10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71625"/>
            <a:ext cx="3762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F49"/>
                </a:solidFill>
              </a:defRPr>
            </a:pPr>
            <a:r>
              <a:rPr sz="1875" b="1" i="0">
                <a:solidFill>
                  <a:srgbClr val="0B2F49"/>
                </a:solidFill>
              </a:rPr>
              <a:t>La factibilidad técnica es alta; el principal desafío es la calidad del levantamiento en terreno.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57200" y="2724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8B062-DAEA-4CE4-8028-D552EB4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TÉCNICA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7FCFC-668A-4FEB-9239-A4EA4E2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Ionic, Angular, TypeScript, Capacitor, SQLite y A* permiten construir el núcleo con tecnologías conocidas y abiertas.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3981450" y="3095625"/>
            <a:ext cx="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9D07D-D09D-485B-A862-E815F2A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OPERACIONAL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C69E0-CC5C-46DB-BBBA-DC5A2333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No exige cuenta al visitante; funciona offline y aprovecha Wi‑Fi autorizado, sensores y señalética QR.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7791450" y="3095625"/>
            <a:ext cx="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A228B-16E0-43F5-81D9-337D5E3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ECONÓMICA / TEMPORAL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B8EE1-AB05-4DAC-9F96-4E701419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Licenciamiento inicial acotado. Los costos críticos son terreno, señalética, publicación, mantenimiento y backend.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4885F3-8E32-4284-8DCC-DFB6415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968B8-6295-4BBA-BB2F-104D94EC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0"/>
            <a:ext cx="1071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5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Recursos críticos: planos y niveles · teléfonos Android · autorización Wi‑Fi · señalética QR/NFC · pruebas con usuarios · respaldo del resort.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510E21-FFF8-4BCA-8033-0CCC3379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AE0E1-4CF2-410B-A6BE-BC8FB176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B10C1-13D9-4F55-85B1-8F450602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939F4-E134-485C-BCD4-4E3C57E0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A* = algoritmo de rutas · QR = respuesta rápida · NFC = comunicación cercana</a:t>
            </a:r>
          </a:p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API = interfaz de programación · HTTPS = protocolo web seguro · SQL = lenguaje de consulta</a:t>
            </a:r>
          </a:p>
        </p:txBody>
      </p:sp>
    </p:spTree>
    <p:extLst>
      <p:ext uri="{BB962C8B-B14F-4D97-AF65-F5344CB8AC3E}">
        <p14:creationId xmlns:p14="http://schemas.microsoft.com/office/powerpoint/2010/main" val="1549072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889647-A214-44D9-A1F8-BD38763F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4E45F-8845-4F80-B8DC-A896B01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1B1D4-DDBA-4659-9920-01D5D5D9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BE230-30F4-40AB-88DB-42C2BF2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5B015-B7D7-461B-8545-6C66171D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Metodología Kanban y equipo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8F958-F43D-41F0-905F-4C21368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0034587db4a60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EFBA7-4463-44D6-B880-7009C9DE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86B2B-0DFB-4333-8B26-A272D86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208A7-34C8-4599-A676-11DFD90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FLUJO DE TRABAJO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857250" y="24384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D8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0875E-A1E2-4657-9DBD-EF4E0826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10D07-51AE-4CB4-8EE6-44C6035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75C03-D1C4-471F-A36B-9D2DB9F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Backlog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31B93-3335-47F2-83EE-8A6EAECE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B5B3F-5D41-46F2-A42E-30F6ADA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1AB16-DCEE-4664-A456-D9EBDCAC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3D542-5612-4DF1-B7E5-A3D5278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Por hacer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67FDA-4B9E-4819-BCD8-49F64D6E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5D140-6CCC-430E-BCA4-1D985AF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F551C-50BC-4F27-A39C-8DCE50D0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2835A-EF7B-4E47-8542-9F48991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En progreso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F84E3-7002-43F5-9D14-8CE916B9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052C0-FEB5-49F9-9A1D-7B742807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70B88-967C-45D8-AC8D-B0138CBE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6BC0F-ACC4-4B36-A55B-29676B4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Revisión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C5C8E-FF92-4602-A886-365EE7F0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9B369-D0C5-4357-9049-D19EF97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298BB-BB4F-4301-95E4-E35044D5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71B71-1530-453A-BB66-C5648B79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Pruebas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3D4C5-0D0F-42D2-82A6-37820A3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4E56D2-36CE-4013-AD38-E94809FD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8AFB8-A457-40F3-B541-D92AC4DC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ED6B62-BFAC-4D32-9AD6-53D8908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Terminado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883D4E-28B9-4874-9D9F-E74019D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—</a:t>
            </a:r>
          </a:p>
        </p:txBody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457200" y="3743325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028604-6E83-4371-B5C5-61E8A7C5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GONZALO ALLENDE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F3009-D34B-442E-B093-0E3EA92D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Líder del proyecto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82F0DE-A443-4BAE-9A51-CAD8A85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Coordinación del equipo, tablero, prioridades, límites WIP, bloqueos, arquitectura, integración y evidencia.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3981450" y="4048125"/>
            <a:ext cx="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439835-5F0C-4E0B-91AE-44CEA2A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554AF"/>
                </a:solidFill>
              </a:defRPr>
            </a:pPr>
            <a:r>
              <a:rPr sz="1050" b="1" i="0">
                <a:solidFill>
                  <a:srgbClr val="7554AF"/>
                </a:solidFill>
              </a:rPr>
              <a:t>CRISTIAN CULIPICHUN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0FF12E-DF6B-4C1B-9BF8-4A3F10D2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Aplicación móvil y UX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6D1902-5296-4CCC-A258-8540CB6A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UX (experiencia de usuario): Ionic/Angular, pantallas, navegación visual, idiomas, accesibilidad y pruebas de interfaz.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7791450" y="4048125"/>
            <a:ext cx="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0EE6D-3FC7-4F73-8C8B-8D12280A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8B28"/>
                </a:solidFill>
              </a:defRPr>
            </a:pPr>
            <a:r>
              <a:rPr sz="1050" b="1" i="0">
                <a:solidFill>
                  <a:srgbClr val="F28B28"/>
                </a:solidFill>
              </a:rPr>
              <a:t>PEDRO NAVARRO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A66B4F-E104-4A6E-92D3-958F357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Mapas, posicionamiento y QA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288BDD-8D1C-459E-9A9A-2287C41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QA (aseguramiento de calidad): planos, grafo, A*, posicionamiento, rutas de campo y registro de defectos.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D31AA6-D3A9-4828-85EA-9F8B0621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F5E"/>
                </a:solidFill>
              </a:defRPr>
            </a:pPr>
            <a:r>
              <a:rPr sz="1200" b="1" i="0">
                <a:solidFill>
                  <a:srgbClr val="123F5E"/>
                </a:solidFill>
              </a:rPr>
              <a:t>Calidad y aceptación son responsabilidades compartidas; los focos reducen duplicidad, no crean silos.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413C88-4478-494E-B621-B0756D55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597D70-F8AF-4235-A6E6-8954EDFD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45D726-C1A6-4177-951C-A5AF4C1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CD91B6-738C-4471-8A4F-257E4922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WIP = trabajo en curso · UX = experiencia de usuario</a:t>
            </a:r>
          </a:p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QA = aseguramiento de calidad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857893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B899732-BA90-4E15-8F3A-F1396F2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71FA4-EFFD-4703-9450-968E92D4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33D6E-B8D7-48DB-B4AD-0BCAB42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D64CF-DD9F-4665-AB61-563FEE39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F7A56-E4A0-4A6E-ABEF-964C5605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Evidencia: aplicación de metodología Kanban</a:t>
            </a:r>
          </a:p>
        </p:txBody>
      </p:sp>
      <p:cxnSp>
        <p:nvCxnSpPr>
          <p:cNvPr id="9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7C7D4-69E6-4783-B726-5527AEC0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2d72c5ee54665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0F4B1-A203-43E4-8C55-BA63C32A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76D03-6A73-4657-80BE-895F2F7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5FC1C-4422-4855-9939-FE49584E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7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26A7A"/>
                </a:solidFill>
              </a:defRPr>
            </a:pPr>
            <a:r>
              <a:rPr sz="1500" b="1" i="0">
                <a:solidFill>
                  <a:srgbClr val="526A7A"/>
                </a:solidFill>
              </a:rPr>
              <a:t>El avance se gestiona como flujo continuo: cada tarea se incorpora según la capacidad disponible y los bloqueos quedan visibles.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7518B-B6F1-4596-96AF-B3DD761B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60BC0-E43F-4831-A8E7-96A4026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2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EC72D-81B2-44F1-8EFB-42299D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D4CFF-B6C1-45D0-A60A-07A389C0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D7306-C652-43E9-8F46-981D9F8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83655-377A-4EF7-A698-BA2E7D4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Calibrar Wi‑Fi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74C1C-8FCE-40EF-903A-9FDA11F2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Inventario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61350-FA34-415E-800D-0E90981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AF308-71FC-4E3D-8D4C-ADEBFE0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Refinar POI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D4997-7DF3-4784-AFC6-C835C61F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Contenido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11250-0FCC-4E5C-A88D-6E01ACF7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88D56-A239-4D1A-8422-F7D725FA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63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Pruebas accesibilidad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8CFC1-BF1B-4263-8F91-462B8E5A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Validación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711C6-3241-40A3-9999-D3A6A51D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624D6-B2C7-4799-ADB1-6B16605F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0FCBA-1548-4D0E-890D-A5EC9CF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POR HACER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592F7-64A4-429F-B3E8-CDCC93C1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41927-D350-4BC8-8AC3-A83BA0E5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B7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CD33E6-DEEF-466E-A72A-A969C46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Digitalizar nivel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12BBC-0A15-4F4B-8A8B-38AE0D82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5B7C6"/>
                </a:solidFill>
              </a:defRPr>
            </a:pPr>
            <a:r>
              <a:rPr sz="825" b="1" i="0">
                <a:solidFill>
                  <a:srgbClr val="25B7C6"/>
                </a:solidFill>
              </a:rPr>
              <a:t>Mapas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6C91A-5DF4-4858-B70D-C2C735FB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B7C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5352E-A98B-48AA-A4F0-10ABABD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Validar conectores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8FF83B-4353-4799-BC07-A22E1650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5B7C6"/>
                </a:solidFill>
              </a:defRPr>
            </a:pPr>
            <a:r>
              <a:rPr sz="825" b="1" i="0">
                <a:solidFill>
                  <a:srgbClr val="25B7C6"/>
                </a:solidFill>
              </a:rPr>
              <a:t>Grafo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FC932F-F814-4A8C-B303-7A88D52D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F7845C-061A-404B-A2D7-A1621BF0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7554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FBF4AE-68C3-425C-A12F-46FB8B05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EN PROGRESO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2A62DC-DEDA-424E-A9B4-FB340364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FFA8D4-E1B1-4BE3-8AC6-A8929931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554A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C6820A-15CC-437C-9A9B-99AE116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Integración QR/NFC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2AD83A-ED09-40C1-AB34-1A5BE74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7554AF"/>
                </a:solidFill>
              </a:defRPr>
            </a:pPr>
            <a:r>
              <a:rPr sz="825" b="1" i="0">
                <a:solidFill>
                  <a:srgbClr val="7554AF"/>
                </a:solidFill>
              </a:rPr>
              <a:t>Posicionamiento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8B50C3-6346-4E46-BE4F-6B289E9D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554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660577-512A-4811-89F9-EF22D32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Motor A*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A75D3F-09BC-4EBC-A439-00CD4B2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7554AF"/>
                </a:solidFill>
              </a:defRPr>
            </a:pPr>
            <a:r>
              <a:rPr sz="825" b="1" i="0">
                <a:solidFill>
                  <a:srgbClr val="7554AF"/>
                </a:solidFill>
              </a:rPr>
              <a:t>Navegación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7329D-0082-4BC9-9AD3-245019E8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8C5983-D0BB-4F33-998D-68090A22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DD8BD-0D2E-40F9-9ADF-6D178AD6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REVISIÓN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2A5D98-7CB3-4491-9FCA-6173B00B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E27A90-D10E-4ED4-B7EE-ED99E4C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B2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030A8B-5EA0-425F-9FD3-B9803DE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Ajuste al mapa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20F11D-D769-4998-9E79-F9E3353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28B28"/>
                </a:solidFill>
              </a:defRPr>
            </a:pPr>
            <a:r>
              <a:rPr sz="825" b="1" i="0">
                <a:solidFill>
                  <a:srgbClr val="F28B28"/>
                </a:solidFill>
              </a:rPr>
              <a:t>Calidad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CA7F80-BD41-4C7E-8701-41E19FB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B2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97BA5E-BE9A-48F6-B984-FD905F17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Traducciones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1BD957-1ADB-4D94-8D43-893DAF98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28B28"/>
                </a:solidFill>
              </a:defRPr>
            </a:pPr>
            <a:r>
              <a:rPr sz="825" b="1" i="0">
                <a:solidFill>
                  <a:srgbClr val="F28B28"/>
                </a:solidFill>
              </a:rPr>
              <a:t>Contenido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5455F1-07C9-404B-B352-A62826D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675E0F-27C5-470A-8617-1BBE276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03D113-5EF7-440C-95EE-84418E56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D6F061-50B8-44C6-BC52-EAFF6CA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ABBA39-7589-4FA7-ADED-C32B489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9A4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78C60C-2F2D-474C-A707-4B904724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Ruta accesible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2611B2-1CA3-4923-8C47-D00E672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99A45"/>
                </a:solidFill>
              </a:defRPr>
            </a:pPr>
            <a:r>
              <a:rPr sz="825" b="1" i="0">
                <a:solidFill>
                  <a:srgbClr val="C99A45"/>
                </a:solidFill>
              </a:rPr>
              <a:t>Prueba funcional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E2DE88-AC92-4379-B1A8-CB79B78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9A4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AC19EB-02B0-44B0-A51F-AF52BDC0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Modo offline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EC4B3D-F915-41C1-99ED-BA43341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99A45"/>
                </a:solidFill>
              </a:defRPr>
            </a:pPr>
            <a:r>
              <a:rPr sz="825" b="1" i="0">
                <a:solidFill>
                  <a:srgbClr val="C99A45"/>
                </a:solidFill>
              </a:rPr>
              <a:t>Prueba técnica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40BD9B-0A93-4DC0-A7CD-731DAFB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55E952-44E7-48AF-B799-44E6A8A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32C678-1BEA-4A6A-8FC3-510A6642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TERMINADO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7FF3EA-F96E-437E-A0A4-0C60DEE3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Flujo cerrado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D8D4AF-826E-4823-9778-AC6FAC9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9B6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B02F6F-B3F1-4B85-87DB-49FF48F5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Visión y alcance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0340FA-C22C-47A7-B252-17B17221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19B6C"/>
                </a:solidFill>
              </a:defRPr>
            </a:pPr>
            <a:r>
              <a:rPr sz="825" b="1" i="0">
                <a:solidFill>
                  <a:srgbClr val="219B6C"/>
                </a:solidFill>
              </a:rPr>
              <a:t>Aprobado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2A438E-0CFE-4557-B895-2F232B1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9B6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42651F-4639-448E-8E5F-514F4CF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Políticas Kanban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C55B7B-954F-422D-89FB-DCD99DA8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19B6C"/>
                </a:solidFill>
              </a:defRPr>
            </a:pPr>
            <a:r>
              <a:rPr sz="825" b="1" i="0">
                <a:solidFill>
                  <a:srgbClr val="219B6C"/>
                </a:solidFill>
              </a:rPr>
              <a:t>Aprobado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5A9EA4-6C47-4468-9D11-8F3F39F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FLUJO PULL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8284F2-CE61-4F48-AE25-7F86E638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4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Se inicia trabajo solo cuando existe capacidad.</a:t>
            </a:r>
          </a:p>
        </p:txBody>
      </p:sp>
      <p:cxnSp>
        <p:nvCxnSpPr>
          <p:cNvPr id="166" name=""/>
          <p:cNvCxnSpPr/>
          <p:nvPr/>
        </p:nvCxnSpPr>
        <p:spPr>
          <a:xfrm xmlns:a="http://schemas.openxmlformats.org/drawingml/2006/main">
            <a:off x="3143250" y="5429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059AA6-F3AF-435D-86EB-F6198FB7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LÍMITES WIP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5D240A-4EBC-4E4D-9FD2-2B82E73F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Evitan la sobrecarga y favorecen terminar.</a:t>
            </a:r>
          </a:p>
        </p:txBody>
      </p:sp>
      <p:cxnSp>
        <p:nvCxnSpPr>
          <p:cNvPr id="169" name=""/>
          <p:cNvCxnSpPr/>
          <p:nvPr/>
        </p:nvCxnSpPr>
        <p:spPr>
          <a:xfrm xmlns:a="http://schemas.openxmlformats.org/drawingml/2006/main">
            <a:off x="5962650" y="5429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928B62-5841-404E-80F1-A767113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BLOQUEOS VISIBLES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8327DA4-0B71-464C-BA68-C87168B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Los impedimentos se detectan y atienden.</a:t>
            </a:r>
          </a:p>
        </p:txBody>
      </p:sp>
      <p:cxnSp>
        <p:nvCxnSpPr>
          <p:cNvPr id="172" name=""/>
          <p:cNvCxnSpPr/>
          <p:nvPr/>
        </p:nvCxnSpPr>
        <p:spPr>
          <a:xfrm xmlns:a="http://schemas.openxmlformats.org/drawingml/2006/main">
            <a:off x="8782050" y="5429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3EB403-3FBC-4D47-BC5A-7D864F3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19B6C"/>
                </a:solidFill>
              </a:defRPr>
            </a:pPr>
            <a:r>
              <a:rPr sz="1050" b="1" i="0">
                <a:solidFill>
                  <a:srgbClr val="219B6C"/>
                </a:solidFill>
              </a:rPr>
              <a:t>MEJORA CONTINUA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21CFDE-F57C-4361-BF6B-3B6A1B6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11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El flujo se revisa mediante métricas y cadencias.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42BF77-7FC2-4919-B23E-E599CF1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6D23722-05DF-4F30-9BA3-191A4E54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0591D9-A2BF-4EC6-B951-40A5676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221948-07D2-425C-9E61-6515976C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WIP = trabajo en curso · POI = punto de interés</a:t>
            </a:r>
          </a:p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QR = respuesta rápida · NFC = comunicación cercana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8326829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7F33E-8FC2-4AB1-AB80-9D41610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A8660-F0AA-429E-B41C-6D8603D4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49441-4A1F-48E1-A5F2-A0C09025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283B7-0A02-4008-A6B3-9943939A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121BD-2D7B-4156-ACBF-B94BA321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Plan de trabajo: seis entregas incrementales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3A6D7-C895-46FA-A072-2C8074AA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fca733864450e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D4114-D1D8-4D8C-BB37-402E19E1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22D38-61FE-4765-B194-A069EA91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876300" y="3171825"/>
            <a:ext cx="10401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3F5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D2DE3-449E-4E73-8C3A-8D6B56AC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55934-CF60-41AF-8FD7-03F6831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2AC65-BB8C-4124-AA43-A764B924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11–30 AGO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07125-ECBD-49DE-A739-25E27A8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Definición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A2DC5-6EB8-424F-BA81-08C6A5D4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Visión, alcance, requisitos y tablero.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9810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9F7B7-BCF0-46B9-9451-97D004F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C9983-CFCF-47B2-A380-D1C20707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B9DF2-69F0-4B04-AFDB-99E2761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31 AGO–27 SEP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046B0-7F2A-4889-B927-240E217D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Mapas y grafo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CFDCC-22A8-4218-99F2-1E414CDE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Niveles, POI, nodos y conexiones.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29051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49E64-4B19-4543-8C1E-EB73D87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404FC-B6BD-4AEC-AA3F-CE81EDD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BA1C1-F8BB-42C2-A0E7-3E942F1B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28 SEP–25 OCT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0CE2C-8D37-4DED-BF24-4CD504E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Base móvil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3FA68-E2AB-48E6-8E2E-B76DD1FC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Ionic/Angular, datos locales y sensores.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8291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93105-CE77-4DE9-9AC1-AE7DADFC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6D59CE-4C7A-45FC-A296-5D21F4B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4C732-3A92-4212-88A7-8AD56DBD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26 OCT–22 NOV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4AA51-B836-484F-90F3-51F90D1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Navegación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0FED9-FA0C-4425-B81F-208294FD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A*, guía, recálculo, idiomas y offline.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67532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47E0C9-DF02-450A-BA2A-0FAB064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629011-7401-40B0-8EEE-6649919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FC2F8E-B7AB-442E-8752-13988C9C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23 NOV–13 DIC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A3B3D9-7326-43C1-A606-652EABD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Integración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0505C5-397B-400E-B54C-B26E61C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Pruebas funcionales, accesibilidad y piloto.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86772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3C3322-2AB1-42E1-B113-8D27F41D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96AF63-F661-4A43-9F02-362FFB6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966EA4-D1EF-4760-936E-575D5BD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19B6C"/>
                </a:solidFill>
              </a:defRPr>
            </a:pPr>
            <a:r>
              <a:rPr sz="1050" b="1" i="0">
                <a:solidFill>
                  <a:srgbClr val="219B6C"/>
                </a:solidFill>
              </a:rPr>
              <a:t>14–20 DIC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B90F21-555C-42CE-9D1E-54317163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Cierre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02DE68-2BB3-4F79-B329-D648DB84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Estabilización, evidencias y entrega v1.0.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106013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C70270-6E2F-44DA-B1EE-9C077FD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DD4041-9C70-487C-B7BD-6AA29B2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8642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2F49"/>
                </a:solidFill>
              </a:defRPr>
            </a:pPr>
            <a:r>
              <a:rPr sz="1200" b="1" i="0">
                <a:solidFill>
                  <a:srgbClr val="0B2F49"/>
                </a:solidFill>
              </a:rPr>
              <a:t>Cadencias Kanban: sincronización breve diaria · reposición semanal · revisión de entrega semanal · retrospectiva de flujo quincenal.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6C5E04-9B60-4AC2-92C3-E3805965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947B81-74AA-4DC6-8FDB-87DCB041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341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BE8969-0493-46B3-A986-15FFB3C5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626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4B8690-9539-463E-8509-8F5B5A8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150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A* = algoritmo de rutas · v1.0 = versión 1.0</a:t>
            </a:r>
          </a:p>
        </p:txBody>
      </p:sp>
    </p:spTree>
    <p:extLst>
      <p:ext uri="{BB962C8B-B14F-4D97-AF65-F5344CB8AC3E}">
        <p14:creationId xmlns:p14="http://schemas.microsoft.com/office/powerpoint/2010/main" val="2063618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F884C-34E8-4217-A22D-422622B8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19362-6780-44CC-93FF-DFEDB205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2266950" cy="2647950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48fdefe9346a7"/>
          <a:stretch xmlns:a="http://schemas.openxmlformats.org/drawingml/2006/main"/>
        </p:blipFill>
        <p:spPr>
          <a:xfrm xmlns:a="http://schemas.openxmlformats.org/drawingml/2006/main">
            <a:off x="657225" y="663148"/>
            <a:ext cx="1981200" cy="23122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47725-1FB1-4915-8F65-6C79671D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2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839D6-8309-4947-9BC0-104ED4B6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71575"/>
            <a:ext cx="4095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De la desorientación</a:t>
            </a:r>
          </a:p>
          <a:p xmlns:a="http://schemas.openxmlformats.org/drawingml/2006/main">
            <a:pPr algn="l"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a la autonomía.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3BB64-BEE5-4E58-A676-66288AF7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6191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E7EF"/>
                </a:solidFill>
              </a:defRPr>
            </a:pPr>
            <a:r>
              <a:rPr sz="1650" b="0" i="0">
                <a:solidFill>
                  <a:srgbClr val="D8E7EF"/>
                </a:solidFill>
              </a:rPr>
              <a:t>NavInside integra mapas, posicionamiento, rutas y accesibilidad para transformar la experiencia interior del resort sin depender de una conexión permanente.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D9432-5F93-4038-9694-75913699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6143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6D185-FF0A-4BF7-B683-92DF853B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Resultado comprometido: NavInside v1.0 instalable, documentada y demostrable.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8FC61-E476-4965-B321-1E39C140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285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D8EC5-F06B-4C3A-9944-BBEAD487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3049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43A1E-8359-4C11-B7AA-DA452300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27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HUÉSPED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3EA64-5DB4-4AD9-8456-289708E9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002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Más autonomía y orientación inclusiva.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E3B86-805E-4CB1-8796-FD4CFAD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38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B1882-94D4-4A46-A3FE-197F1944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57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C3E49-6FDD-4184-B673-5EAE621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28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OPERACIÓN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F696D-D985-4274-BF15-959F4F0C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5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Menos dependencia del personal para consultas repetitivas.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B30A7-D655-4FE6-983C-C55614D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90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232B5-C0FB-4A9D-92CA-F6BE4276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100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F89A4-CC2C-49E9-A196-CC0F78F3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81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9A45"/>
                </a:solidFill>
              </a:defRPr>
            </a:pPr>
            <a:r>
              <a:rPr sz="1050" b="1" i="0">
                <a:solidFill>
                  <a:srgbClr val="C99A45"/>
                </a:solidFill>
              </a:rPr>
              <a:t>EVOLUCIÓN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DD1CD-D0FF-4813-87BD-4854FF20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305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Núcleo reutilizable para nuevos edificios y sedes.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7543800" y="5476875"/>
            <a:ext cx="3981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77088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219D6-FA7D-4B16-9B28-6668A601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769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Siguiente hito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BFA78-2360-4419-8E42-8D0A1DD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00075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0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Validar mapas, calibración y rutas en terreno.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71EB6-DF6C-418C-B4F6-4629F4D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98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6D3"/>
                </a:solidFill>
              </a:defRPr>
            </a:pPr>
            <a:r>
              <a:rPr sz="1050" b="0" i="0">
                <a:solidFill>
                  <a:srgbClr val="AFC6D3"/>
                </a:solidFill>
              </a:rPr>
              <a:t>Gonzalo Allende · Cristian Culipichun · Pedro Navarro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39C29-1395-4EEC-90A9-9289F57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0972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3DC90-00BA-4991-A444-7225DB9D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365BD-11BF-4EC8-9AED-A903BE6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5627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10048-6A44-4CD6-BBFF-7BFCD5C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15100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4FAFC"/>
                </a:solidFill>
              </a:defRPr>
            </a:pPr>
            <a:r>
              <a:rPr sz="825" b="1" i="0">
                <a:solidFill>
                  <a:srgbClr val="F4FAFC"/>
                </a:solidFill>
              </a:rPr>
              <a:t>v1.0 = versión 1.0</a:t>
            </a:r>
          </a:p>
        </p:txBody>
      </p:sp>
    </p:spTree>
    <p:extLst>
      <p:ext uri="{BB962C8B-B14F-4D97-AF65-F5344CB8AC3E}">
        <p14:creationId xmlns:p14="http://schemas.microsoft.com/office/powerpoint/2010/main" val="730863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2026-09-02T01:38:33.5480000Z</dcterms:created>
  <dcterms:modified xsi:type="dcterms:W3CDTF">2026-09-02T01:38:33.5480000Z</dcterms:modified>
</coreProperties>
</file>