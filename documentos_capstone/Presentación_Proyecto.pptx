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012dc32205453e" /><Relationship Type="http://schemas.openxmlformats.org/officeDocument/2006/relationships/extended-properties" Target="/docProps/app.xml" Id="Rfe3e882f4f18425c" /><Relationship Type="http://schemas.openxmlformats.org/officeDocument/2006/relationships/officeDocument" Target="/ppt/presentation.xml" Id="R846869db262f43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25fcaf9589459c"/>
  </p:sldMasterIdLst>
  <p:notesMasterIdLst>
    <p:notesMasterId xmlns:r="http://schemas.openxmlformats.org/officeDocument/2006/relationships" r:id="R2d12f1b1c2114ae3"/>
  </p:notesMasterIdLst>
  <p:sldIdLst>
    <p:sldId xmlns:r="http://schemas.openxmlformats.org/officeDocument/2006/relationships" id="256" r:id="Rbfc6e2f09cf7481f"/>
    <p:sldId xmlns:r="http://schemas.openxmlformats.org/officeDocument/2006/relationships" id="257" r:id="R5ac6fb139e8f4bd9"/>
    <p:sldId xmlns:r="http://schemas.openxmlformats.org/officeDocument/2006/relationships" id="258" r:id="R61bf3392af354ed3"/>
    <p:sldId xmlns:r="http://schemas.openxmlformats.org/officeDocument/2006/relationships" id="259" r:id="Rb62c90e7ce8d47c6"/>
    <p:sldId xmlns:r="http://schemas.openxmlformats.org/officeDocument/2006/relationships" id="260" r:id="Rf07ea036506f46fe"/>
    <p:sldId xmlns:r="http://schemas.openxmlformats.org/officeDocument/2006/relationships" id="261" r:id="Rfdcca04bb0f94813"/>
    <p:sldId xmlns:r="http://schemas.openxmlformats.org/officeDocument/2006/relationships" id="262" r:id="Rcb20f9c4214f4681"/>
    <p:sldId xmlns:r="http://schemas.openxmlformats.org/officeDocument/2006/relationships" id="263" r:id="Rba8396bc70a64abc"/>
    <p:sldId xmlns:r="http://schemas.openxmlformats.org/officeDocument/2006/relationships" id="264" r:id="Rf7f501a0320b46fa"/>
    <p:sldId xmlns:r="http://schemas.openxmlformats.org/officeDocument/2006/relationships" id="265" r:id="R824e3da610d0477d"/>
    <p:sldId xmlns:r="http://schemas.openxmlformats.org/officeDocument/2006/relationships" id="266" r:id="Rb8b89476fff947e0"/>
    <p:sldId xmlns:r="http://schemas.openxmlformats.org/officeDocument/2006/relationships" id="267" r:id="Rc0edd11e6bbf4c27"/>
    <p:sldId xmlns:r="http://schemas.openxmlformats.org/officeDocument/2006/relationships" id="268" r:id="R077908e02d854d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9d0a0f305a48f4" /><Relationship Type="http://schemas.openxmlformats.org/officeDocument/2006/relationships/slideMaster" Target="/ppt/slideMasters/slideMaster1.xml" Id="Rb925fcaf9589459c" /><Relationship Type="http://schemas.openxmlformats.org/officeDocument/2006/relationships/notesMaster" Target="/ppt/notesMasters/notesMaster1.xml" Id="R2d12f1b1c2114ae3" /><Relationship Type="http://schemas.openxmlformats.org/officeDocument/2006/relationships/presProps" Target="/ppt/presProps.xml" Id="R00360044f1b84e0e" /><Relationship Type="http://schemas.openxmlformats.org/officeDocument/2006/relationships/tableStyles" Target="/ppt/tableStyles.xml" Id="Rd0f36149a99b4457" /><Relationship Type="http://schemas.openxmlformats.org/officeDocument/2006/relationships/slide" Target="/ppt/slides/slide1.xml" Id="Rbfc6e2f09cf7481f" /><Relationship Type="http://schemas.openxmlformats.org/officeDocument/2006/relationships/slide" Target="/ppt/slides/slide2.xml" Id="R5ac6fb139e8f4bd9" /><Relationship Type="http://schemas.openxmlformats.org/officeDocument/2006/relationships/slide" Target="/ppt/slides/slide3.xml" Id="R61bf3392af354ed3" /><Relationship Type="http://schemas.openxmlformats.org/officeDocument/2006/relationships/slide" Target="/ppt/slides/slide4.xml" Id="Rb62c90e7ce8d47c6" /><Relationship Type="http://schemas.openxmlformats.org/officeDocument/2006/relationships/slide" Target="/ppt/slides/slide5.xml" Id="Rf07ea036506f46fe" /><Relationship Type="http://schemas.openxmlformats.org/officeDocument/2006/relationships/slide" Target="/ppt/slides/slide6.xml" Id="Rfdcca04bb0f94813" /><Relationship Type="http://schemas.openxmlformats.org/officeDocument/2006/relationships/slide" Target="/ppt/slides/slide7.xml" Id="Rcb20f9c4214f4681" /><Relationship Type="http://schemas.openxmlformats.org/officeDocument/2006/relationships/slide" Target="/ppt/slides/slide8.xml" Id="Rba8396bc70a64abc" /><Relationship Type="http://schemas.openxmlformats.org/officeDocument/2006/relationships/slide" Target="/ppt/slides/slide9.xml" Id="Rf7f501a0320b46fa" /><Relationship Type="http://schemas.openxmlformats.org/officeDocument/2006/relationships/slide" Target="/ppt/slides/slide10.xml" Id="R824e3da610d0477d" /><Relationship Type="http://schemas.openxmlformats.org/officeDocument/2006/relationships/slide" Target="/ppt/slides/slide11.xml" Id="Rb8b89476fff947e0" /><Relationship Type="http://schemas.openxmlformats.org/officeDocument/2006/relationships/slide" Target="/ppt/slides/slide12.xml" Id="Rc0edd11e6bbf4c27" /><Relationship Type="http://schemas.openxmlformats.org/officeDocument/2006/relationships/slide" Target="/ppt/slides/slide13.xml" Id="R077908e02d854d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92013b166649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10059b3bca44cb" /><Relationship Type="http://schemas.openxmlformats.org/officeDocument/2006/relationships/notesMaster" Target="/ppt/notesMasters/notesMaster1.xml" Id="Ra92ddfad715d4f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d54ee9c32d4709" /><Relationship Type="http://schemas.openxmlformats.org/officeDocument/2006/relationships/notesMaster" Target="/ppt/notesMasters/notesMaster1.xml" Id="R39670354a8d24f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aa255041084f4b" /><Relationship Type="http://schemas.openxmlformats.org/officeDocument/2006/relationships/notesMaster" Target="/ppt/notesMasters/notesMaster1.xml" Id="R075b4a9da3cc4d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f9eca9a5cb4f55" /><Relationship Type="http://schemas.openxmlformats.org/officeDocument/2006/relationships/notesMaster" Target="/ppt/notesMasters/notesMaster1.xml" Id="R3cf8e10ed2a344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ee77fa686d420f" /><Relationship Type="http://schemas.openxmlformats.org/officeDocument/2006/relationships/notesMaster" Target="/ppt/notesMasters/notesMaster1.xml" Id="R6b05d6fb396d40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b34d5c37d646bf" /><Relationship Type="http://schemas.openxmlformats.org/officeDocument/2006/relationships/notesMaster" Target="/ppt/notesMasters/notesMaster1.xml" Id="Rfdb0d5ac56604f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559d81c08a430e" /><Relationship Type="http://schemas.openxmlformats.org/officeDocument/2006/relationships/notesMaster" Target="/ppt/notesMasters/notesMaster1.xml" Id="R7dc3fa1400c944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430e8994b94683" /><Relationship Type="http://schemas.openxmlformats.org/officeDocument/2006/relationships/notesMaster" Target="/ppt/notesMasters/notesMaster1.xml" Id="Rf18281669ab140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8902c9989c41f7" /><Relationship Type="http://schemas.openxmlformats.org/officeDocument/2006/relationships/notesMaster" Target="/ppt/notesMasters/notesMaster1.xml" Id="R11dcb74798124c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42b2f01e654607" /><Relationship Type="http://schemas.openxmlformats.org/officeDocument/2006/relationships/notesMaster" Target="/ppt/notesMasters/notesMaster1.xml" Id="R0fbf023063c845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b3b3be53d84ee4" /><Relationship Type="http://schemas.openxmlformats.org/officeDocument/2006/relationships/notesMaster" Target="/ppt/notesMasters/notesMaster1.xml" Id="R1748b71df24440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7b62228c624a1d" /><Relationship Type="http://schemas.openxmlformats.org/officeDocument/2006/relationships/notesMaster" Target="/ppt/notesMasters/notesMaster1.xml" Id="R39079c516ee040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60096ea07b4f3e" /><Relationship Type="http://schemas.openxmlformats.org/officeDocument/2006/relationships/notesMaster" Target="/ppt/notesMasters/notesMaster1.xml" Id="Rd3a0211d934e4f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necesidad de autonomía del huésped. NavInside no es un mapa estático: interpreta la ubicación y acompaña el recorrido.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ImageGen, imagen conceptual generada para esta presentación, 2026-09-01.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la problemática es operacional y de experiencia: la orientación interior no está resuelta por el GPS convencional.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flujo de izquierda a derecha. La propuesta combina datos del edificio, estimación de ubicación y un motor de rutas en una sola experiencia.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Vincular la fundamentación con los criterios académicos: pertinencia, integración de competencias, evidencia y capacidad de transferencia. APT corresponde a Asignatura de Portafolio de Título.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https://diseno.duoc.cl/rutasformativas/2019/diseno-grafico/portafolio-de-titulo-29.html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primero el objetivo general y luego los cinco resultados específicos. Destacar que la validación es parte del producto, no una etapa opcional.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Separar claramente alcance y escalabilidad. La versión 1.0 tiene límites concretos; la arquitectura permite reutilizar el núcleo sin reescribir 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prioridad MoSCoW. Ocho épicas son indispensables para la experiencia de navegación; la administración avanzada se mantiene como Should.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Documento_Epicas_Usuario_NavInside.docx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las tres zonas: usuarios e infraestructura, aplicación móvil y servicios de administración. API significa interfaz de programación de aplicaciones; HTTPS corresponde al protocolo seguro de transferencia web; SQL es lenguaje de consulta estructurado. Aclarar que las conexiones del diagrama no usan puntas de flecha y que el backend Supabase sigue siendo una propuesta.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Destacar que el riesgo no está en el algoritmo, sino en la precisión de mapas, calibración, permisos y pruebas reales. La factibilidad depende de acceso coordinado al resort.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Recalcar que se utiliza Kanban, no Scrum. Gonzalo Allende cumple el rol de líder del proyecto y coordina el flujo general. Los límites WIP evitan iniciar demasiado trabajo y hacen visibles los bloqueos. Cada integrante tiene un foco, pero la calidad es colectiva.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esta lámina como la evidencia de aplicación de Kanban en NavInside. Explicar el sistema pull, los límites WIP y la visualización de bloqueos. Las tarjetas son una representación del flujo de trabajo del proyecto; Kanban se utiliza como metodología central y no se trabaja por sprints.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plan como entregas incrementales, no como fases aisladas. Cada tramo termina con un resultado que puede revisarse en el tablero.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conectando valor y compromiso: autonomía para el usuario, alivio operativo y una base escalable. El siguiente hito concreto es la validación en terreno.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Documento_Vision_y_Roles_NavInside.docx</a:t>
            </a:r>
          </a:p>
          <a:p xmlns:a="http://schemas.openxmlformats.org/drawingml/2006/main">
            <a:r>
              <a:t>- Arquitectura_Sistema_NavInside.pdf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80ccfdb3140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c3492a4fc148a0" /><Relationship Type="http://schemas.openxmlformats.org/officeDocument/2006/relationships/slideLayout" Target="/ppt/slideLayouts/slideLayout1.xml" Id="R8fa63588d9ee4e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a63588d9ee4e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eb2bc6b034a62" /><Relationship Type="http://schemas.openxmlformats.org/officeDocument/2006/relationships/image" Target="/ppt/media/image.png" Id="R378d975eb5de488f" /><Relationship Type="http://schemas.openxmlformats.org/officeDocument/2006/relationships/image" Target="/ppt/media/image2.png" Id="Re3628960a0c446b6" /><Relationship Type="http://schemas.openxmlformats.org/officeDocument/2006/relationships/notesSlide" Target="/ppt/notesSlides/notesSlide1.xml" Id="R9abca29f718744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fdf3922624990" /><Relationship Type="http://schemas.openxmlformats.org/officeDocument/2006/relationships/image" Target="/ppt/media/image3.png" Id="R35855ab377504123" /><Relationship Type="http://schemas.openxmlformats.org/officeDocument/2006/relationships/notesSlide" Target="/ppt/notesSlides/notesSlide2.xml" Id="Rb956f6ef149d49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1987e172e4431" /><Relationship Type="http://schemas.openxmlformats.org/officeDocument/2006/relationships/image" Target="/ppt/media/image4.png" Id="Ra5220957f6f847e0" /><Relationship Type="http://schemas.openxmlformats.org/officeDocument/2006/relationships/notesSlide" Target="/ppt/notesSlides/notesSlide3.xml" Id="Rcff03a3a38f841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a89b58745461e" /><Relationship Type="http://schemas.openxmlformats.org/officeDocument/2006/relationships/image" Target="/ppt/media/image5.png" Id="R6473c87ef78d4a49" /><Relationship Type="http://schemas.openxmlformats.org/officeDocument/2006/relationships/notesSlide" Target="/ppt/notesSlides/notesSlide4.xml" Id="R1575af0d3f9c45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076aa5bba4726" /><Relationship Type="http://schemas.openxmlformats.org/officeDocument/2006/relationships/image" Target="/ppt/media/image6.png" Id="Rbebafd936c304946" /><Relationship Type="http://schemas.openxmlformats.org/officeDocument/2006/relationships/notesSlide" Target="/ppt/notesSlides/notesSlide5.xml" Id="R953559e899c54c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2e65049634c96" /><Relationship Type="http://schemas.openxmlformats.org/officeDocument/2006/relationships/image" Target="/ppt/media/image7.png" Id="R0d145bdc45e74dc1" /><Relationship Type="http://schemas.openxmlformats.org/officeDocument/2006/relationships/notesSlide" Target="/ppt/notesSlides/notesSlide6.xml" Id="R1f4cfaf5d9c14f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ac82445ee46b2" /><Relationship Type="http://schemas.openxmlformats.org/officeDocument/2006/relationships/image" Target="/ppt/media/image8.png" Id="Rab067e29de4d4d7c" /><Relationship Type="http://schemas.openxmlformats.org/officeDocument/2006/relationships/notesSlide" Target="/ppt/notesSlides/notesSlide7.xml" Id="Rb474475cd04243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31c688fea4ea2" /><Relationship Type="http://schemas.openxmlformats.org/officeDocument/2006/relationships/image" Target="/ppt/media/image9.png" Id="R45d8b600b8d04c86" /><Relationship Type="http://schemas.openxmlformats.org/officeDocument/2006/relationships/notesSlide" Target="/ppt/notesSlides/notesSlide8.xml" Id="R0b9d0ace90ac42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776cf45c34cf0" /><Relationship Type="http://schemas.openxmlformats.org/officeDocument/2006/relationships/image" Target="/ppt/media/image10.png" Id="Rc5418d20bd864b58" /><Relationship Type="http://schemas.openxmlformats.org/officeDocument/2006/relationships/notesSlide" Target="/ppt/notesSlides/notesSlide9.xml" Id="Rc42e46ac110043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5ef0592e441a2" /><Relationship Type="http://schemas.openxmlformats.org/officeDocument/2006/relationships/image" Target="/ppt/media/image11.png" Id="Rcd5b11d7c7924edc" /><Relationship Type="http://schemas.openxmlformats.org/officeDocument/2006/relationships/notesSlide" Target="/ppt/notesSlides/notesSlide10.xml" Id="Re19f659344e746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e0e5f94ea4027" /><Relationship Type="http://schemas.openxmlformats.org/officeDocument/2006/relationships/image" Target="/ppt/media/image12.png" Id="Reee4ab85c66a4e3e" /><Relationship Type="http://schemas.openxmlformats.org/officeDocument/2006/relationships/notesSlide" Target="/ppt/notesSlides/notesSlide11.xml" Id="R6201f51117dd4a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115008a0c43c5" /><Relationship Type="http://schemas.openxmlformats.org/officeDocument/2006/relationships/image" Target="/ppt/media/image13.png" Id="R75a4c299926e4571" /><Relationship Type="http://schemas.openxmlformats.org/officeDocument/2006/relationships/notesSlide" Target="/ppt/notesSlides/notesSlide12.xml" Id="R82f9d7c58d3c45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d649f7f6d497f" /><Relationship Type="http://schemas.openxmlformats.org/officeDocument/2006/relationships/image" Target="/ppt/media/image14.png" Id="Rd400314b49cd42d2" /><Relationship Type="http://schemas.openxmlformats.org/officeDocument/2006/relationships/notesSlide" Target="/ppt/notesSlides/notesSlide13.xml" Id="R67f63b4e93ee4d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ED967-59AC-4F7E-B033-970239AD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02312-E8DF-41D8-9109-BC9EAEDF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4D120-17CD-47E4-937E-8C9F6A2A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537B05-B4BD-402B-B2A2-FCA0186D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HIPPOCAMPUS RESORT &amp; CLUB  ×  NAVINSIDE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E06BE-E0AD-459C-B0B4-7003538E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66775"/>
            <a:ext cx="2514600" cy="2952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d975eb5de488f"/>
          <a:stretch xmlns:a="http://schemas.openxmlformats.org/drawingml/2006/main"/>
        </p:blipFill>
        <p:spPr>
          <a:xfrm xmlns:a="http://schemas.openxmlformats.org/drawingml/2006/main">
            <a:off x="628650" y="1031391"/>
            <a:ext cx="2247900" cy="262351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36DE2-6732-44ED-9356-1953DA14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200150"/>
            <a:ext cx="2524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902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2A3E"/>
                </a:solidFill>
              </a:defRPr>
            </a:pPr>
            <a:r>
              <a:rPr sz="2175" b="1" i="0">
                <a:solidFill>
                  <a:srgbClr val="102A3E"/>
                </a:solidFill>
              </a:rPr>
              <a:t>Navegación interior inteligente,</a:t>
            </a:r>
          </a:p>
          <a:p xmlns:a="http://schemas.openxmlformats.org/drawingml/2006/main">
            <a:pPr algn="l">
              <a:defRPr sz="2175" b="1" i="0">
                <a:solidFill>
                  <a:srgbClr val="102A3E"/>
                </a:solidFill>
              </a:defRPr>
            </a:pPr>
            <a:r>
              <a:rPr sz="2175" b="1" i="0">
                <a:solidFill>
                  <a:srgbClr val="102A3E"/>
                </a:solidFill>
              </a:rPr>
              <a:t>accesible y multilingüe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D47DE-E700-4D21-AFD5-850BEC0F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86050"/>
            <a:ext cx="2533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8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A7A"/>
                </a:solidFill>
              </a:defRPr>
            </a:pPr>
            <a:r>
              <a:rPr sz="1425" b="0" i="0">
                <a:solidFill>
                  <a:srgbClr val="526A7A"/>
                </a:solidFill>
              </a:rPr>
              <a:t>Aplicación Android para orientar a huéspedes y trabajadores dentro de Hippocampus mediante mapas digitales, posicionamiento híbrido y rutas calculadas con A*.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CB164-D777-475E-BA49-232F1D90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14850"/>
            <a:ext cx="22098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CEE5C-C4B7-42A6-98DC-D19AA193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339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PROYECTO APT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F099D-BCD1-49F6-A36E-D284CDFC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519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F5E"/>
                </a:solidFill>
              </a:defRPr>
            </a:pPr>
            <a:r>
              <a:rPr sz="1200" b="1" i="0">
                <a:solidFill>
                  <a:srgbClr val="123F5E"/>
                </a:solidFill>
              </a:rPr>
              <a:t>Gonzalo Allende · Cristian Culipichun · Pedro Navarro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FCA35-9AC2-4771-BDED-CB911F03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A8C98"/>
                </a:solidFill>
              </a:defRPr>
            </a:pPr>
            <a:r>
              <a:rPr sz="1125" b="0" i="0">
                <a:solidFill>
                  <a:srgbClr val="7A8C98"/>
                </a:solidFill>
              </a:rPr>
              <a:t>11 de agosto — 20 de diciembre de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CB5931-E127-4275-A017-F4DE8749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"/>
            <a:ext cx="5638800" cy="619125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28960a0c446b6"/>
          <a:srcRect xmlns:a="http://schemas.openxmlformats.org/drawingml/2006/main" l="0" t="19103" r="0" b="191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333375"/>
            <a:ext cx="5638800" cy="6191250"/>
          </a:xfrm>
          <a:prstGeom xmlns:a="http://schemas.openxmlformats.org/drawingml/2006/main" prst="roundRect">
            <a:avLst>
              <a:gd name="adj" fmla="val 405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11412-4CC0-4BA2-A018-74326938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43575"/>
            <a:ext cx="28003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179D9-5958-4BDD-BCEC-9D4BB490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838825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Del plano a una guía activa</a:t>
            </a:r>
          </a:p>
        </p:txBody>
      </p:sp>
    </p:spTree>
    <p:extLst>
      <p:ext uri="{BB962C8B-B14F-4D97-AF65-F5344CB8AC3E}">
        <p14:creationId xmlns:p14="http://schemas.microsoft.com/office/powerpoint/2010/main" val="1002472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A6AD53-FC37-4D82-B418-F03A4C11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91F5F-4899-4DDB-878C-BB7C3E67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BBF2E-9A4A-4A82-9F38-144E7366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73241-4014-4C8C-AF0F-0E5515FC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53CC7-8CE3-49D8-9887-859FCAF1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Problemática: el GPS deja un vacío dentro del resort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C4B6E-D112-4BBD-AA93-6A8D0AF8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55ab377504123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9632A-B6DA-427B-AEEB-08DD96C6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CA1BC-4BD2-4990-B90C-ACF53137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7C0EE-2501-4DB0-A6BE-5FDCFEA7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62100"/>
            <a:ext cx="4810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756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B2F49"/>
                </a:solidFill>
              </a:defRPr>
            </a:pPr>
            <a:r>
              <a:rPr sz="2325" b="1" i="0">
                <a:solidFill>
                  <a:srgbClr val="0B2F49"/>
                </a:solidFill>
              </a:rPr>
              <a:t>El Sistema de Posicionamiento Global (GPS) pierde precisión al ingresar a edificios.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586A83-5211-4878-8F92-89E46641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90825"/>
            <a:ext cx="4810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26A7A"/>
                </a:solidFill>
              </a:defRPr>
            </a:pPr>
            <a:r>
              <a:rPr sz="1575" b="0" i="0">
                <a:solidFill>
                  <a:srgbClr val="526A7A"/>
                </a:solidFill>
              </a:rPr>
              <a:t>En un recinto con varios niveles, servicios y recorridos, ese vacío se transforma en consultas, demoras y dependencia del personal.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8C989-A213-4471-A00F-1A02A69F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95750"/>
            <a:ext cx="4810125" cy="1438275"/>
          </a:xfrm>
          <a:prstGeom xmlns:a="http://schemas.openxmlformats.org/drawingml/2006/main" prst="roundRect">
            <a:avLst>
              <a:gd name="adj" fmla="val 10596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DA2E7-C9AD-4914-A272-40C2A91F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B7C6"/>
                </a:solidFill>
              </a:defRPr>
            </a:pPr>
            <a:r>
              <a:rPr sz="1275" b="1" i="0">
                <a:solidFill>
                  <a:srgbClr val="25B7C6"/>
                </a:solidFill>
              </a:rPr>
              <a:t>Impacto actual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7CC05D-1FDB-4B41-BAD6-3C34CA8F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Mayor carga de orientación al personal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Experiencia desigual para visitantes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• Dificultad para encontrar rutas accesibles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31AB4-317D-4EA4-AC40-AA95DB1D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62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E072E-BBDC-44D6-819E-F8C435E5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8115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19F68-6660-4BEC-B130-905C180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5430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Múltiples niveles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B5308-D100-4708-9E48-50CFD902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05000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Niveles 1, 3, 4 y 5 con conexiones verticales.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6181725" y="20764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A9037A-97D5-4914-A0A3-5D8F2760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19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E1566F-B2AF-4D13-8CE1-54C9CB36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3842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5D58A-4927-46F5-9F41-CA78F4BC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6003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Distribución desconocida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176436-BD80-46BF-B0AC-691D9A60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96227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El visitante no reconoce pasillos, accesos ni servicios.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6181725" y="3133725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4E920E-29B0-42C2-98E8-EDA3C219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76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6CE44D-AE4B-4B86-ABC6-0956F15A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95700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D0B58-9320-42DB-8198-50AE8674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657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Idioma y accesibilidad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AEDE97-A2AE-4636-ACAF-1015CB73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19550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Se requieren instrucciones comprensibles y rutas sin barreras.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6181725" y="41910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536F0C-249C-45CB-9A99-43D0AB89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339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74D559-EE60-456C-A40B-9F584243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52975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66A23B-45DC-4ED2-8177-F40546AB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714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Conectividad inestable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3DF44A-A65B-41DF-B8AB-AA305000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768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La navegación esencial no puede depender de Internet.</a:t>
            </a:r>
          </a:p>
        </p:txBody>
      </p:sp>
    </p:spTree>
    <p:extLst>
      <p:ext uri="{BB962C8B-B14F-4D97-AF65-F5344CB8AC3E}">
        <p14:creationId xmlns:p14="http://schemas.microsoft.com/office/powerpoint/2010/main" val="440641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86E725-BB0C-4E07-B89D-51675D62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DE6CB-3FA2-4944-8BC7-6518BE90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27B53-88B2-40E5-917A-94E07BF4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E4447-9F1B-4271-B211-5FCE0ED4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C3D7E-D71A-485E-8142-F012377D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11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Descripción: NavInside convierte el plano en una guía activa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45C1C-4D61-4A95-94BD-EFC7D42C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20957f6f847e0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3587B-C622-49C3-99C9-F344C585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C96F0-5AC6-4861-B2E2-6F96F482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69181-2DBB-4DFC-B493-AFFA4A3E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859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23F5E"/>
                </a:solidFill>
              </a:defRPr>
            </a:pPr>
            <a:r>
              <a:rPr sz="1725" b="1" i="0">
                <a:solidFill>
                  <a:srgbClr val="123F5E"/>
                </a:solidFill>
              </a:rPr>
              <a:t>La experiencia del usuario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1066800" y="2466975"/>
            <a:ext cx="94678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D8E1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D40F6-07AE-42C2-B30B-53D4F94F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EE845-9C41-4E89-B0AF-E84D9EAC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61C05-E3AD-46A7-8789-EDA3563D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Ubicar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E9296-1089-4534-B00A-A637C69F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Wi‑Fi, IMU, QR/NFC o selección manual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58FB8-80BF-4279-A890-CEA91C4D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2246B-02C8-42BA-8BC5-077FE0C9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AAC86-1404-4171-B329-3B77620F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Buscar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89859-E479-432E-9840-6B617592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Destino o punto de interés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91B7D-50A8-4985-A4E4-4DB50984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5958C-C6F3-4CC1-A35C-F119D203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64313F-714C-4402-856B-7F145ABB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Calcular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DBD33C-4FEA-4B96-B925-B0CE4253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Grafo navegable y algoritmo A*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01BF7E-7F05-427A-9BBB-FB3910F6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01F32B-DE20-4147-8C86-9364A8C2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FE461A-2055-46CC-9939-A7B5CDD3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Guiar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BD0CA2-2150-4B54-9DAF-305C42B3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Ruta visual e instrucciones paso a paso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8351D2-76D1-4CF4-BF32-310B348C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431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BB31A9-CDFF-415C-BB27-FDD7955A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62175"/>
            <a:ext cx="66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AFAA1-4E95-4C2A-916E-B8371CD7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9908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Recalcular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C10904-84FE-45CA-93AE-BB622DD5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809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Corrección ante desvíos o bloqueos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D186F4-63A0-457E-9CE2-CE6CA07E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657725"/>
            <a:ext cx="11315700" cy="1323975"/>
          </a:xfrm>
          <a:prstGeom xmlns:a="http://schemas.openxmlformats.org/drawingml/2006/main" prst="roundRect">
            <a:avLst>
              <a:gd name="adj" fmla="val 11511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F02A54-9C84-4132-BCDE-85402921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5B7C6"/>
                </a:solidFill>
              </a:defRPr>
            </a:pPr>
            <a:r>
              <a:rPr sz="1275" b="1" i="0">
                <a:solidFill>
                  <a:srgbClr val="25B7C6"/>
                </a:solidFill>
              </a:rPr>
              <a:t>Núcleo funcional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3172D8-7773-475C-A35A-5C71DE3B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Mapas vectoriales + directorio de POI + posicionamiento híbrido + rutas multinivel + accesibilidad + tres idiomas + operación esencial sin conexión.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F46C34-7254-4102-9B0D-D4D9F201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26A7A"/>
                </a:solidFill>
              </a:defRPr>
            </a:pPr>
            <a:r>
              <a:rPr sz="975" b="1" i="0">
                <a:solidFill>
                  <a:srgbClr val="526A7A"/>
                </a:solidFill>
              </a:rPr>
              <a:t>POI: punto de interés · IMU: unidad de medición inercial · QR: respuesta rápida · NFC: comunicación de campo cercano</a:t>
            </a:r>
          </a:p>
        </p:txBody>
      </p:sp>
    </p:spTree>
    <p:extLst>
      <p:ext uri="{BB962C8B-B14F-4D97-AF65-F5344CB8AC3E}">
        <p14:creationId xmlns:p14="http://schemas.microsoft.com/office/powerpoint/2010/main" val="419325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F1AD78-C29E-49D8-B266-16478630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4F405-55F1-4BBA-93BE-D83DD86F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B5854-0B0D-4273-A382-85F049A4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43905-DC5D-4440-9AE8-3865ED54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7DB83-744C-4FB9-B5A7-A792C9A0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B51EC-0C04-43B7-95BA-939E5E84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3c87ef78d4a49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B246F-9CB3-432B-BCE3-653B1C17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9E082-F8E4-4D0A-BC91-1F91F339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C8349-1B6A-4127-A352-D6E986C5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19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0B2F49"/>
                </a:solidFill>
              </a:defRPr>
            </a:pPr>
            <a:r>
              <a:rPr sz="2625" b="1" i="0">
                <a:solidFill>
                  <a:srgbClr val="0B2F49"/>
                </a:solidFill>
              </a:rPr>
              <a:t>Fundamentación APT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CD3750-02FA-4779-BA68-D81B49AC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90575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APT: Asignatura de Portafolio de Título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10509-E7FB-4326-B2CD-66C68C0A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57325"/>
            <a:ext cx="11144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7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2F49"/>
                </a:solidFill>
              </a:defRPr>
            </a:pPr>
            <a:r>
              <a:rPr sz="2025" b="1" i="0">
                <a:solidFill>
                  <a:srgbClr val="0B2F49"/>
                </a:solidFill>
              </a:rPr>
              <a:t>NavInside articula competencias técnicas y de gestión en un producto demostrable para una organización real.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A6483-EBDE-48A0-9A84-C40FBB77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4574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PERTINENCIA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4D38F-7A09-4031-A407-2265D9B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7908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Responde a una necesidad concreta de orientación y autonomía dentro de Hippocampus Resort &amp; Club.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5857875" y="245745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438150" y="3781425"/>
            <a:ext cx="5095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C8C33-DD0D-4F5E-A04C-47FABA91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INTEGRACIÓN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D8A70-472C-4DB6-8092-A119A0F6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908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Combina desarrollo móvil, arquitectura, datos, algoritmos, sensores, experiencia de usuario (UX), accesibilidad y seguridad.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6153150" y="3781425"/>
            <a:ext cx="5095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23D674-F28F-4FAC-A518-6DB245C2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957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VALIDACIÓN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B301F-17BE-4F8A-8275-B412CE5D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291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Define criterios de aceptación, pruebas funcionales, rutas reales y evidencia trazable por resultado.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5857875" y="409575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8EC1CE-D06F-4FED-B81E-F96FDD81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9A45"/>
                </a:solidFill>
              </a:defRPr>
            </a:pPr>
            <a:r>
              <a:rPr sz="1050" b="1" i="0">
                <a:solidFill>
                  <a:srgbClr val="C99A45"/>
                </a:solidFill>
              </a:rPr>
              <a:t>TRANSFERENCIA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7BA30-7C40-4D85-A476-7D3451D6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29125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2A3E"/>
                </a:solidFill>
              </a:defRPr>
            </a:pPr>
            <a:r>
              <a:rPr sz="1575" b="1" i="0">
                <a:solidFill>
                  <a:srgbClr val="102A3E"/>
                </a:solidFill>
              </a:rPr>
              <a:t>El núcleo puede reutilizarse en hoteles, hospitales, universidades y centros comerciales.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4C1FE-80DB-4A87-A512-96E087DF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19775"/>
            <a:ext cx="5619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8A0A57-AC0D-4D82-8AE2-66126B0C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388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131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Resultado APT: solución instalable, documentada y demostrable</a:t>
            </a:r>
          </a:p>
        </p:txBody>
      </p:sp>
    </p:spTree>
    <p:extLst>
      <p:ext uri="{BB962C8B-B14F-4D97-AF65-F5344CB8AC3E}">
        <p14:creationId xmlns:p14="http://schemas.microsoft.com/office/powerpoint/2010/main" val="385145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E9CA03-8C94-4F12-AE17-B8C1DE82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C0BA3-530A-425E-8EEB-090871DA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9D171-1BC4-4030-B0A1-E11D3375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84EAF-7BA5-41A4-A4F8-79E93B69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0A915-4306-4EDD-877E-91225F87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86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Objetivos: entregar navegación interior completa en Android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C4CC7-5875-4D57-8BD0-4A4137D3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bafd936c304946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4EAE-1B70-484B-B41F-9D3D5CEC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D52AA-0309-4629-97C3-CC91193C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A5D7D-6DCC-48D5-91A4-7CEF3601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28750"/>
            <a:ext cx="113157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B03A4-CB18-41DD-B5F9-D0549587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OBJETIVO GENERAL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1E16D-8689-44F2-A73D-E00F9DF9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38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19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Construir una aplicación que determine la posición aproximada, permita elegir un destino y guíe al usuario por rutas accesibles y multilingües dentro de Hippocampus.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368C4-93F4-4EF7-8855-45688CF5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DDD97-3620-424F-BD30-BB734114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D69EE-4180-4172-B1C6-7C268E34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Digitalizar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94CBE-2C74-4EA0-BF1F-890DFE5B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Mapas, niveles, POI y grafo navegable.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3B462-FCE5-463A-9427-464D6715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33D1C-2A62-4EDF-959A-E6DF4D19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408BE-E5FF-4A2F-9A17-EDABCC47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Calcular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FFF5E-2F92-4595-960E-B6E35CA5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Rutas eficientes con A* y restricciones.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8FC92-5881-4312-8BD3-EA3E0EF1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D751B-E9E0-4165-9848-E35A6918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0EBC2-F68A-4785-AC3E-D2C87ED0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Posicionar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A648BE-5918-4BC0-8737-A6B3C8A6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Fusionar Wi‑Fi, IMU y puntos QR/NFC.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9E26B-4AFF-4225-9661-B1026088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78B2FA-BD78-4123-B13B-B13C1D90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D8EED3-BED9-4785-A875-67A00283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Guiar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053E91-AF31-4D74-BA60-46D96300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Paso a paso, recálculo y operación offline.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F0F7F3-34CD-494A-9D07-BD2BD2D2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051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61D5EE-3B79-4628-B44C-BAAFF086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242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79E51B-4AB9-4BA2-9857-CA6FC147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Validar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B0D454-2952-48D4-8FD5-8722BAE0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1809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5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Funcionalidad, usabilidad y accesibilidad en terreno.</a:t>
            </a:r>
          </a:p>
        </p:txBody>
      </p:sp>
      <p:cxnSp>
        <p:nvCxnSpPr>
          <p:cNvPr id="69" name=""/>
          <p:cNvCxnSpPr/>
          <p:nvPr/>
        </p:nvCxnSpPr>
        <p:spPr>
          <a:xfrm xmlns:a="http://schemas.openxmlformats.org/drawingml/2006/main">
            <a:off x="438150" y="5343525"/>
            <a:ext cx="113157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45A478-413D-414C-84D2-E850646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5911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F5E"/>
                </a:solidFill>
              </a:defRPr>
            </a:pPr>
            <a:r>
              <a:rPr sz="1500" b="1" i="0">
                <a:solidFill>
                  <a:srgbClr val="123F5E"/>
                </a:solidFill>
              </a:rPr>
              <a:t>Criterio común: cada objetivo debe producir evidencia verificable y quedar trazado en el tablero Kanban.</a:t>
            </a:r>
          </a:p>
        </p:txBody>
      </p:sp>
    </p:spTree>
    <p:extLst>
      <p:ext uri="{BB962C8B-B14F-4D97-AF65-F5344CB8AC3E}">
        <p14:creationId xmlns:p14="http://schemas.microsoft.com/office/powerpoint/2010/main" val="8113913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F2CC37-6901-403F-B1B6-F7172D6E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77205-8EBD-48F7-A3F4-EFA3DCB8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04B4B-BE8F-4466-8714-54FBE953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90DA5-0DB6-4CE2-A43E-3250751C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F9DC2-DBB3-4382-ADBE-ABACACF7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Alcance v1.0 y escalabilidad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1986B-78F0-4EA0-AB68-E539B813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45bdc45e74dc1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FB3B4-D136-4C59-A816-6AEB7738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99494-3A6D-4B28-80ED-8510373D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29AEB-1886-4993-A731-912A88BF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ALCANCE V1.0 · HIPPOCAMPUS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462B1-462D-4C92-B271-7E063D05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2D59A-2091-4354-9D46-58A559CA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niveles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3F710-2955-4B1E-B92B-10A7BDD1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14525"/>
            <a:ext cx="119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D4631E-CCBD-4E79-ACAF-30121DA3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479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POI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0FD79-45EA-448C-B8FA-5547396D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14525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52DAF-EB3E-453C-A21A-C119CF0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4792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idiomas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A404C-209D-47BB-B538-CE341882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4143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Android inicial</a:t>
            </a:r>
          </a:p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Mapas vectoriales y grafo</a:t>
            </a:r>
          </a:p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Posicionamiento híbrido</a:t>
            </a:r>
          </a:p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A*, recálculo y rutas accesibles</a:t>
            </a:r>
          </a:p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• Operación esencial offline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2AC313-3F57-4B7C-977E-4627BD33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43243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010787-E640-42EB-B558-1E07CAD7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Fuera de alcance v1: sistema iOS de Apple, GPS exterior, reservas, pagos e integración hotelera.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2619E-ED5F-42A6-9833-923A730B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49542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ESCALABILIDAD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B4839-C4E7-4978-A663-7627D726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812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83834-397B-44DE-8234-32AD85CB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000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88251F-7201-4C49-81F8-EE9F941E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716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Hippocampus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39F22-F0DF-4082-AB13-E0C78446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526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Primera implementación y validación en terreno.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6057900" y="24574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20BB8-C5FD-40DF-B14E-DB26AC06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38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FC1BF6-5DBD-4937-B795-04E876D4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2575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B21B70-F668-485A-8946-EE337FE4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289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Nuevos edificios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67203-97BA-42F0-8E83-3ECFCAA8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99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Mismo motor; cambian mapas, grafo, POI y calibraciones.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6057900" y="37147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14E0B7-9E96-4ED1-8904-7730BCCA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95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18851A-3932-49A5-9860-30DCFED1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6E8C73-620D-4977-B11E-EFDDE4B6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862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Operación multisede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A30034-9FB7-45CE-BA38-00453635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67275"/>
            <a:ext cx="442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Entidades separadas por site_id y publicación por versión.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93874E-1F1A-44A7-8800-B3C7F1C8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781675"/>
            <a:ext cx="5476875" cy="371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F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0D6D2C-A30E-4AE4-9C97-03627D53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80072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Hoteles · hospitales · universidades · centros comerciales</a:t>
            </a:r>
          </a:p>
        </p:txBody>
      </p:sp>
    </p:spTree>
    <p:extLst>
      <p:ext uri="{BB962C8B-B14F-4D97-AF65-F5344CB8AC3E}">
        <p14:creationId xmlns:p14="http://schemas.microsoft.com/office/powerpoint/2010/main" val="15834700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95D2CE-BDD6-43E3-8954-0ADAB0B3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B04EB4-84E8-4C05-9B7F-BF4C2F89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B36E5-0CCE-4D9B-9F77-C5B2372E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80E5F-C45A-4B59-AE4B-5745CAD3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E5296-5582-4B28-BC4D-ABA9C8CB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Priorización de épicas: primero el núcleo navegable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29285-2732-4B18-9C7F-3913D7DA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67e29de4d4d7c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CB4D7-D719-4986-936B-06A8EDA8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1962C-DFF5-4639-9C82-7CF97120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03E3D-1F90-4808-9DDF-39EBCC18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954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C6E10-89B3-49BA-9961-32923138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288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épicas MUST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9F4E1-2AD1-40C2-AA6B-8A0696FC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954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C99A45"/>
                </a:solidFill>
              </a:defRPr>
            </a:pPr>
            <a:r>
              <a:rPr sz="3000" b="1" i="0">
                <a:solidFill>
                  <a:srgbClr val="C99A45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91256-DA59-48E1-82A3-143FF599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288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épica SHOULD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A34CB-B840-4402-979C-09F26C90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76525"/>
            <a:ext cx="3667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MoSCoW —Must, Should, Could y Won’t— concentra el esfuerzo en una versión útil antes de ampliar la administración de contenidos.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9193C-C575-431F-A455-E379EAE3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366712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5F34D-19B9-4FAD-8E46-09ECAAF3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5B7C6"/>
                </a:solidFill>
              </a:defRPr>
            </a:pPr>
            <a:r>
              <a:rPr sz="1200" b="1" i="0">
                <a:solidFill>
                  <a:srgbClr val="25B7C6"/>
                </a:solidFill>
              </a:rPr>
              <a:t>Regla de prioridad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586A9-F58C-4DE6-A98D-7D479249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0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Primero: ubicar, calcular y guiar.</a:t>
            </a:r>
          </a:p>
          <a:p xmlns:a="http://schemas.openxmlformats.org/drawingml/2006/main">
            <a:pPr algn="l">
              <a:defRPr sz="1425" b="1" i="0">
                <a:solidFill>
                  <a:srgbClr val="0B2F49"/>
                </a:solidFill>
              </a:defRPr>
            </a:pPr>
            <a:r>
              <a:rPr sz="1425" b="1" i="0">
                <a:solidFill>
                  <a:srgbClr val="0B2F49"/>
                </a:solidFill>
              </a:rPr>
              <a:t>Después: optimizar la gestión y evolución del contenido.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2D013-E566-4C75-8BBB-741ED06C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4954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MUST · VERSIÓN 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29C4E8-AD96-4D51-AC51-D02A5DB9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71675"/>
            <a:ext cx="314325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EP‑01 Mapas y puntos de interés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EP‑02 Posicionamiento híbrido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EP‑03 Cálculo inteligente de rutas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EP‑04 Navegación y recálculo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4073A-E077-4FA7-9388-4C874BB7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71675"/>
            <a:ext cx="33813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EP‑05 Accesibilidad e inclusión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EP‑06 Experiencia multilingüe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EP‑07 Operación offline y sincronización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 i="0">
                <a:solidFill>
                  <a:srgbClr val="102A3E"/>
                </a:solidFill>
              </a:defRPr>
            </a:pPr>
            <a:r>
              <a:rPr sz="1350" b="1" i="0">
                <a:solidFill>
                  <a:srgbClr val="102A3E"/>
                </a:solidFill>
              </a:rPr>
              <a:t>• EP‑09 Privacidad, calidad y entrega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695825" y="4810125"/>
            <a:ext cx="67341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7CAE6-27ED-4FA9-886C-974DB2AF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387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SHOULD · EVOLUCIÓN CONTROLADA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8C0D5-305B-4629-8214-710F6E84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483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EP‑08 Gestión y evolución del contenido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09D96-EECE-4640-B1E9-E83DF38A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9245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A7A"/>
                </a:solidFill>
              </a:defRPr>
            </a:pPr>
            <a:r>
              <a:rPr sz="1200" b="0" i="0">
                <a:solidFill>
                  <a:srgbClr val="526A7A"/>
                </a:solidFill>
              </a:rPr>
              <a:t>Catálogo priorizado: 9 épicas</a:t>
            </a:r>
          </a:p>
        </p:txBody>
      </p:sp>
    </p:spTree>
    <p:extLst>
      <p:ext uri="{BB962C8B-B14F-4D97-AF65-F5344CB8AC3E}">
        <p14:creationId xmlns:p14="http://schemas.microsoft.com/office/powerpoint/2010/main" val="2076014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8b600b8d04c86"/>
          <a:stretch xmlns:a="http://schemas.openxmlformats.org/drawingml/2006/main"/>
        </p:blipFill>
        <p:spPr>
          <a:xfrm xmlns:a="http://schemas.openxmlformats.org/drawingml/2006/main">
            <a:off x="1249533" y="0"/>
            <a:ext cx="9692935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956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A5E831-BCBF-4B07-B76B-7CA71033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F16E0-FC26-4C2E-B4D4-7BBBDA78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9368C-F36A-48D1-9355-2D09FF2A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ED539-F371-4CB5-980B-949763B7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B5C9C-75C2-4DBA-86EF-4E71A895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79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Factibilidad y recursos: tecnología disponible, validación exigente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9E2BF-925E-4A34-9AAA-9D1DAE49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18d20bd864b58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DEBE4-D3AD-47C1-8232-9427D1C6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83501-D03A-4EE0-8EC6-DB10695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F6E2A-0487-444E-808E-8206FCB6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44922-FAF7-4DC3-BDF5-D5DFD5A9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288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integrantes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21AB2-1065-438E-8290-52BD1C77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542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5B7C6"/>
                </a:solidFill>
              </a:defRPr>
            </a:pPr>
            <a:r>
              <a:rPr sz="3000" b="1" i="0">
                <a:solidFill>
                  <a:srgbClr val="25B7C6"/>
                </a:solidFill>
              </a:rPr>
              <a:t>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7C11D-2DD7-43E5-B0EC-567F3DD5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0288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semanas de trabajo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86E1B-4AE3-4B14-98A3-7EA52EB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954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C99A45"/>
                </a:solidFill>
              </a:defRPr>
            </a:pPr>
            <a:r>
              <a:rPr sz="3000" b="1" i="0">
                <a:solidFill>
                  <a:srgbClr val="C99A45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C0284-BB12-4361-86BB-32F440D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288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26A7A"/>
                </a:solidFill>
              </a:defRPr>
            </a:pPr>
            <a:r>
              <a:rPr sz="1200" b="1" i="0">
                <a:solidFill>
                  <a:srgbClr val="526A7A"/>
                </a:solidFill>
              </a:rPr>
              <a:t>niveles a digitalizar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4B38E-E843-4061-A4F5-924F5551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71625"/>
            <a:ext cx="3762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2F49"/>
                </a:solidFill>
              </a:defRPr>
            </a:pPr>
            <a:r>
              <a:rPr sz="1875" b="1" i="0">
                <a:solidFill>
                  <a:srgbClr val="0B2F49"/>
                </a:solidFill>
              </a:rPr>
              <a:t>La factibilidad técnica es alta; el principal desafío es la calidad del levantamiento en terreno.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57200" y="27241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3ED61-4FFC-4FE1-A9F9-01E93514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TÉCNICA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51C81-29B8-4404-95E4-E4C1B8DD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3333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Ionic, Angular, TypeScript, Capacitor, SQLite y A* permiten construir el núcleo con tecnologías conocidas y abiertas.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3981450" y="3095625"/>
            <a:ext cx="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7135B8-22BD-433C-ABF9-4F265A8A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95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OPERACIONAL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20549-9D7E-4D39-A8B2-B2E4DF79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3333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No exige cuenta al visitante; funciona offline y aprovecha Wi‑Fi autorizado, sensores y señalética QR.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7791450" y="3095625"/>
            <a:ext cx="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F13E70-C18D-4632-9067-D51BD729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9562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99A45"/>
                </a:solidFill>
              </a:defRPr>
            </a:pPr>
            <a:r>
              <a:rPr sz="1125" b="1" i="0">
                <a:solidFill>
                  <a:srgbClr val="C99A45"/>
                </a:solidFill>
              </a:rPr>
              <a:t>ECONÓMICA / TEMPORAL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FE7EA2-7BBC-4268-B511-E887845A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33337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2A3E"/>
                </a:solidFill>
              </a:defRPr>
            </a:pPr>
            <a:r>
              <a:rPr sz="1500" b="1" i="0">
                <a:solidFill>
                  <a:srgbClr val="102A3E"/>
                </a:solidFill>
              </a:rPr>
              <a:t>Licenciamiento inicial acotado. Los costos críticos son terreno, señalética, publicación, mantenimiento y backend.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7AB8A-A87E-45A6-852D-8112DAAE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82867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968815-B6CC-490B-8795-39F7374F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24475"/>
            <a:ext cx="1071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15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Recursos críticos: planos y niveles · teléfonos Android · autorización Wi‑Fi · señalética QR/NFC · pruebas con usuarios · respaldo del resort.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669BD-253A-45E7-9FF1-6AD8E86F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24525"/>
            <a:ext cx="10715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7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26A7A"/>
                </a:solidFill>
              </a:defRPr>
            </a:pPr>
            <a:r>
              <a:rPr sz="975" b="1" i="0">
                <a:solidFill>
                  <a:srgbClr val="526A7A"/>
                </a:solidFill>
              </a:rPr>
              <a:t>API: interfaz de programación de aplicaciones · HTTPS: protocolo seguro de transferencia web · SQL: lenguaje de consulta estructurado</a:t>
            </a:r>
          </a:p>
        </p:txBody>
      </p:sp>
    </p:spTree>
    <p:extLst>
      <p:ext uri="{BB962C8B-B14F-4D97-AF65-F5344CB8AC3E}">
        <p14:creationId xmlns:p14="http://schemas.microsoft.com/office/powerpoint/2010/main" val="9751150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46CD9E-F02C-4071-ADF2-0350DB0C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A88E2-06FC-4929-B3D4-393B0DBB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2FF57-787E-4C5B-80E4-CF96654F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117E6-AF60-4553-97BC-5BA34D10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17FCA-DBD0-45EF-A095-A37BA288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Metodología Kanban y equipo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49F73-B96F-4B9B-8DF7-484ECFCB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b11d7c7924edc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9E4BB-ACBE-47FA-A3D9-5261B492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ADA76-129D-4954-9390-853DD286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DE6A1-B499-42B3-83D6-D05CBBC8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5B7C6"/>
                </a:solidFill>
              </a:defRPr>
            </a:pPr>
            <a:r>
              <a:rPr sz="1125" b="1" i="0">
                <a:solidFill>
                  <a:srgbClr val="25B7C6"/>
                </a:solidFill>
              </a:rPr>
              <a:t>FLUJO DE TRABAJO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E0FE7-91ED-40D1-8F73-D85A2A5C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9542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26A7A"/>
                </a:solidFill>
              </a:defRPr>
            </a:pPr>
            <a:r>
              <a:rPr sz="975" b="1" i="0">
                <a:solidFill>
                  <a:srgbClr val="526A7A"/>
                </a:solidFill>
              </a:rPr>
              <a:t>WIP: trabajo en curso (Work in Progress)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857250" y="2438400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9D8E1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F1F266-9006-4694-9C20-C2D78B4F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26B95-7264-4C77-9C82-9EB4883B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0A3C7-0867-4CBA-B257-CB00648C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Backlog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03500-33D2-49E1-8365-EA54D43E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19484-815F-48D3-8111-67CCF46D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9748A-F751-4F5F-A96A-72EDC8AD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EB049-5231-4ECC-9AE3-DFA47BBA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Por hacer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AC288-C4C0-408D-A5F3-3F65548C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69031A-BF5B-4BCF-A45F-78C9EEEC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B9F81F-1802-46CD-BB68-EC34C874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5AC4AD-2F8E-4CBE-A4D0-05CC66B9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En progreso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14548C-B1D9-474B-A801-DFB6118C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632CFB-A2F4-495B-BFFF-CFCB5E6A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E23565-26C9-4119-9064-D3387119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869CE6-ADF2-4420-A64D-F84B43B7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Revisión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BF2905-4FA7-4E57-8E22-23EDF840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4C0C2A-4F28-4416-A621-BFFBF6B6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F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1A1FA4-AE80-49DB-B81B-6BDCA5E0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57E7A-D403-4C6C-BB8C-290CEF4B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Pruebas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3BE65E-E5F7-4848-AE06-AF7623E8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WIP 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A064D8-D33E-4044-9075-2E490C10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336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4760CD-7708-42DC-BB9C-28253D35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52650"/>
            <a:ext cx="59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53E4EA-85A3-416F-8B28-F9E973C5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05125"/>
            <a:ext cx="1257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94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Terminado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2C9D73-3A74-4D0C-811D-7B69B700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5B7C6"/>
                </a:solidFill>
              </a:defRPr>
            </a:pPr>
            <a:r>
              <a:rPr sz="975" b="1" i="0">
                <a:solidFill>
                  <a:srgbClr val="25B7C6"/>
                </a:solidFill>
              </a:rPr>
              <a:t>—</a:t>
            </a:r>
          </a:p>
        </p:txBody>
      </p:sp>
      <p:cxnSp>
        <p:nvCxnSpPr>
          <p:cNvPr id="88" name=""/>
          <p:cNvCxnSpPr/>
          <p:nvPr/>
        </p:nvCxnSpPr>
        <p:spPr>
          <a:xfrm xmlns:a="http://schemas.openxmlformats.org/drawingml/2006/main">
            <a:off x="457200" y="3743325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106A77-6A18-46D4-9422-2487ED3B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81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GONZALO ALLENDE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5F25B4-0EC5-4C28-9C6A-2AE6171D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Líder del proyecto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FCCA3C-AA12-4516-BA38-3DCC2777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Coordinación del equipo, tablero, prioridades, límites WIP, bloqueos, arquitectura, integración y evidencia.</a:t>
            </a:r>
          </a:p>
        </p:txBody>
      </p:sp>
      <p:cxnSp>
        <p:nvCxnSpPr>
          <p:cNvPr id="92" name=""/>
          <p:cNvCxnSpPr/>
          <p:nvPr/>
        </p:nvCxnSpPr>
        <p:spPr>
          <a:xfrm xmlns:a="http://schemas.openxmlformats.org/drawingml/2006/main">
            <a:off x="3981450" y="4048125"/>
            <a:ext cx="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3B0086-C0A1-4B7F-AA8F-870863FE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481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554AF"/>
                </a:solidFill>
              </a:defRPr>
            </a:pPr>
            <a:r>
              <a:rPr sz="1050" b="1" i="0">
                <a:solidFill>
                  <a:srgbClr val="7554AF"/>
                </a:solidFill>
              </a:rPr>
              <a:t>CRISTIAN CULIPICHUN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CC8A8B-BF57-4E1E-9D0B-5C633447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Aplicación móvil y UX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466C96-85A3-4C66-88E0-21BB7C70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29175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UX (experiencia de usuario): Ionic/Angular, pantallas, navegación visual, idiomas, accesibilidad y pruebas de interfaz.</a:t>
            </a:r>
          </a:p>
        </p:txBody>
      </p:sp>
      <p:cxnSp>
        <p:nvCxnSpPr>
          <p:cNvPr id="96" name=""/>
          <p:cNvCxnSpPr/>
          <p:nvPr/>
        </p:nvCxnSpPr>
        <p:spPr>
          <a:xfrm xmlns:a="http://schemas.openxmlformats.org/drawingml/2006/main">
            <a:off x="7791450" y="4048125"/>
            <a:ext cx="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DDD139-9119-467F-B360-F04CB174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48125"/>
            <a:ext cx="328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8B28"/>
                </a:solidFill>
              </a:defRPr>
            </a:pPr>
            <a:r>
              <a:rPr sz="1050" b="1" i="0">
                <a:solidFill>
                  <a:srgbClr val="F28B28"/>
                </a:solidFill>
              </a:rPr>
              <a:t>PEDRO NAVARRO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476BBA-CDD5-4A46-898B-534F0B69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B2F49"/>
                </a:solidFill>
              </a:defRPr>
            </a:pPr>
            <a:r>
              <a:rPr sz="1650" b="1" i="0">
                <a:solidFill>
                  <a:srgbClr val="0B2F49"/>
                </a:solidFill>
              </a:rPr>
              <a:t>Mapas, posicionamiento y QA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54A447-B956-472D-9D67-EB6D1AB5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29175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A7A"/>
                </a:solidFill>
              </a:defRPr>
            </a:pPr>
            <a:r>
              <a:rPr sz="1275" b="0" i="0">
                <a:solidFill>
                  <a:srgbClr val="526A7A"/>
                </a:solidFill>
              </a:rPr>
              <a:t>QA (aseguramiento de calidad): planos, grafo, A*, posicionamiento, rutas de campo y registro de defectos.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A71E86-714F-4E77-AAA1-F2A465E0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23F5E"/>
                </a:solidFill>
              </a:defRPr>
            </a:pPr>
            <a:r>
              <a:rPr sz="1200" b="1" i="0">
                <a:solidFill>
                  <a:srgbClr val="123F5E"/>
                </a:solidFill>
              </a:rPr>
              <a:t>Calidad y aceptación son responsabilidades compartidas; los focos reducen duplicidad, no crean silos.</a:t>
            </a:r>
          </a:p>
        </p:txBody>
      </p:sp>
    </p:spTree>
    <p:extLst>
      <p:ext uri="{BB962C8B-B14F-4D97-AF65-F5344CB8AC3E}">
        <p14:creationId xmlns:p14="http://schemas.microsoft.com/office/powerpoint/2010/main" val="17880135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DC004C-2B41-4D80-8E8E-BDCF0714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DFC8C-4092-45BA-9C11-D5D2BBFF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357D4-E12C-41C5-94B3-E2FA927E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1AED2-0DB5-4A00-88D9-0ECFA7BF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5AD12-F49E-4C46-8985-5D5F4378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Evidencia: aplicación de metodología Kanban</a:t>
            </a:r>
          </a:p>
        </p:txBody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F3883-A32F-4603-8077-36B6AB06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4ab85c66a4e3e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FC102-B556-4D32-AB78-2C6E1FC3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40E9F-61B6-44A7-BDC7-E768A493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91139-6A47-4E32-BDFC-5FB7FA01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7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26A7A"/>
                </a:solidFill>
              </a:defRPr>
            </a:pPr>
            <a:r>
              <a:rPr sz="1500" b="1" i="0">
                <a:solidFill>
                  <a:srgbClr val="526A7A"/>
                </a:solidFill>
              </a:rPr>
              <a:t>El avance se gestiona como flujo continuo: cada tarea se incorpora según la capacidad disponible y los bloqueos quedan visibles.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7416F-8799-4666-BD55-0690AAB2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0BC30-2E47-4EE9-A333-C201ECDA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526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068EF-CC77-47AD-808F-479D7F45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BACKLOG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18A21C-D8E9-4514-AD68-D5A40F63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Pendiente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FD32E-0A44-408F-82E0-A64CF06D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6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618C6-5B02-4BED-AF4C-35F7383D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Calibrar Wi‑Fi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CB895-A083-4AD4-8373-7D84AA03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26A7A"/>
                </a:solidFill>
              </a:defRPr>
            </a:pPr>
            <a:r>
              <a:rPr sz="825" b="1" i="0">
                <a:solidFill>
                  <a:srgbClr val="526A7A"/>
                </a:solidFill>
              </a:rPr>
              <a:t>Inventario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963C9-60B9-4B8B-A362-D34A4701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6A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FB9EE-408E-4A36-BAB9-5DAC7561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Refinar POI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41A420-B425-4233-BCFA-70A7D713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26A7A"/>
                </a:solidFill>
              </a:defRPr>
            </a:pPr>
            <a:r>
              <a:rPr sz="825" b="1" i="0">
                <a:solidFill>
                  <a:srgbClr val="526A7A"/>
                </a:solidFill>
              </a:rPr>
              <a:t>Contenido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C0A1D-9FF4-490E-86C0-DC02620B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6A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A266E8-DDC6-4ACE-AD75-5EEDD9C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063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Pruebas accesibilidad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D55EA-B8C0-4FFB-8D49-108AF747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526A7A"/>
                </a:solidFill>
              </a:defRPr>
            </a:pPr>
            <a:r>
              <a:rPr sz="825" b="1" i="0">
                <a:solidFill>
                  <a:srgbClr val="526A7A"/>
                </a:solidFill>
              </a:rPr>
              <a:t>Validación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89143-268C-4C1C-9B96-4DB79846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93CAC5-399A-40A7-A5F0-314D8AC1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DB05A3-6F58-482E-935D-5BFE04BD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POR HACER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F9FD18-0A5E-47AF-B06D-215618F1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9D3269-CBF9-450E-B2F5-810348A7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B7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D76B73-3A23-4954-9091-A7A5EC13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Digitalizar nivel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62A4B5-141C-4215-B5D9-B0CE636F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5B7C6"/>
                </a:solidFill>
              </a:defRPr>
            </a:pPr>
            <a:r>
              <a:rPr sz="825" b="1" i="0">
                <a:solidFill>
                  <a:srgbClr val="25B7C6"/>
                </a:solidFill>
              </a:rPr>
              <a:t>Mapas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7E7DE-8A64-40AD-930C-25E579CC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B7C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15A279-12EE-4AD1-81F9-7F9D9AAB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Validar conectores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59611F-5F98-470A-927B-6D8D2DB8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5B7C6"/>
                </a:solidFill>
              </a:defRPr>
            </a:pPr>
            <a:r>
              <a:rPr sz="825" b="1" i="0">
                <a:solidFill>
                  <a:srgbClr val="25B7C6"/>
                </a:solidFill>
              </a:rPr>
              <a:t>Grafo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05FD28-1C1D-4464-8FAC-B2464A0E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383CAE-CB98-4F70-9FD2-1299B5BD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7554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CD895D-AD3A-4551-9948-1EED3460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EN PROGRESO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948217-EE41-4453-84A6-8FE54FDA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D31BE1-A7FA-49DD-815A-9DD5828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554A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238624-1846-4A0C-94AC-80995BB9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Integración QR/NFC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EB1A4A-30E7-4C5C-B57C-7040390B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7554AF"/>
                </a:solidFill>
              </a:defRPr>
            </a:pPr>
            <a:r>
              <a:rPr sz="825" b="1" i="0">
                <a:solidFill>
                  <a:srgbClr val="7554AF"/>
                </a:solidFill>
              </a:rPr>
              <a:t>Posicionamiento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B7768A-274E-455C-AA51-26CA38D3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554A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E65E82-6D0E-4A2B-8A70-64068660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Motor A*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1D9D54-2833-4ECC-9DF5-26D1BB6D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7554AF"/>
                </a:solidFill>
              </a:defRPr>
            </a:pPr>
            <a:r>
              <a:rPr sz="825" b="1" i="0">
                <a:solidFill>
                  <a:srgbClr val="7554AF"/>
                </a:solidFill>
              </a:rPr>
              <a:t>Navegación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AEB801-909D-4C2C-B708-8E903CC1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6ED75D-4DC7-4825-A342-CE702A99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8B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1360CA-DE11-41F4-842C-F00DCCB8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REVISIÓN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BAD54A-7AE5-4D71-BAB0-90AD4762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503BD6-0CA5-48A3-BB63-56DCEE80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B2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7AB920-DC17-4046-B3D8-0C479B69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Ajuste al mapa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FB2BF3-15BD-474C-9BA7-4C6E6E15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28B28"/>
                </a:solidFill>
              </a:defRPr>
            </a:pPr>
            <a:r>
              <a:rPr sz="825" b="1" i="0">
                <a:solidFill>
                  <a:srgbClr val="F28B28"/>
                </a:solidFill>
              </a:rPr>
              <a:t>Calidad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A92CBC-0B3F-4931-A287-6F79AEE5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8B2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AD9EAF-23A7-468B-90A8-A9D489FB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Traducciones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FF0A37-0BE8-4DF6-AF1B-7459B0A5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28B28"/>
                </a:solidFill>
              </a:defRPr>
            </a:pPr>
            <a:r>
              <a:rPr sz="825" b="1" i="0">
                <a:solidFill>
                  <a:srgbClr val="F28B28"/>
                </a:solidFill>
              </a:rPr>
              <a:t>Contenido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66FD50-DFB0-4B90-B535-8E07EC34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68EFC1-BCAA-417D-A6D1-FD313607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7C55E4-0250-47DD-9283-8A348586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PRUEBAS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D61117-63FB-4CA7-9D82-7E51C501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WIP 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7D19B6-D4A9-4397-A3EC-BECF7731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9A4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8D8DF1-D7B0-4279-886B-1B7524D1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Ruta accesible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71BF5C0-5C21-4563-A981-522E3141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99A45"/>
                </a:solidFill>
              </a:defRPr>
            </a:pPr>
            <a:r>
              <a:rPr sz="825" b="1" i="0">
                <a:solidFill>
                  <a:srgbClr val="C99A45"/>
                </a:solidFill>
              </a:rPr>
              <a:t>Prueba funcional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ABAD5A7-D296-45D7-853B-47C703DF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9A4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EF591C-AD5F-4852-97AE-6677054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Modo offline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80C08F-843D-43C3-AC94-D5B820D8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99A45"/>
                </a:solidFill>
              </a:defRPr>
            </a:pPr>
            <a:r>
              <a:rPr sz="825" b="1" i="0">
                <a:solidFill>
                  <a:srgbClr val="C99A45"/>
                </a:solidFill>
              </a:rPr>
              <a:t>Prueba técnica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3D7FF53-3C03-4EF1-9AA4-8CA236D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38350"/>
            <a:ext cx="1714500" cy="3276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D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C13747-C602-4194-92DF-B7F90B13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38350"/>
            <a:ext cx="1714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9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CF7556-3F78-423C-9B81-2F12D29D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240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TERMINADO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12A632-6DEB-44B2-AF09-80BBB7C2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431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Flujo cerrado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E035C94-15FD-4A4E-8091-F1100B6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2415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9B6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AAB178-8E49-4CB5-ABE9-721A5DD6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Visión y alcance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57773C4-B312-49A4-A18D-C9522AD4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5752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19B6C"/>
                </a:solidFill>
              </a:defRPr>
            </a:pPr>
            <a:r>
              <a:rPr sz="825" b="1" i="0">
                <a:solidFill>
                  <a:srgbClr val="219B6C"/>
                </a:solidFill>
              </a:rPr>
              <a:t>Aprobado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64A05CA-713A-4E78-B61B-FEED98B0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1485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9B6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E64B5D-48FE-4A17-90E8-0B936E36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433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Políticas Kanban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DE101B3-BB34-4B14-B5F0-39CEEEE8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00475"/>
            <a:ext cx="1295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6061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19B6C"/>
                </a:solidFill>
              </a:defRPr>
            </a:pPr>
            <a:r>
              <a:rPr sz="825" b="1" i="0">
                <a:solidFill>
                  <a:srgbClr val="219B6C"/>
                </a:solidFill>
              </a:rPr>
              <a:t>Aprobado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94490F4-7462-4887-A74D-06A1C7CF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FLUJO PULL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F01794C-AED6-4D87-A240-C1B03C3A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67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Se inicia trabajo solo cuando existe capacidad.</a:t>
            </a:r>
          </a:p>
        </p:txBody>
      </p:sp>
      <p:cxnSp>
        <p:nvCxnSpPr>
          <p:cNvPr id="162" name=""/>
          <p:cNvCxnSpPr/>
          <p:nvPr/>
        </p:nvCxnSpPr>
        <p:spPr>
          <a:xfrm xmlns:a="http://schemas.openxmlformats.org/drawingml/2006/main">
            <a:off x="3143250" y="55626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DD9F6DE-C1C5-4C0D-B074-72706C50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43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LÍMITES WIP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BEB1947-DCE5-4C2F-9CAD-0A3592FF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810250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917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Evitan la sobrecarga y favorecen terminar.</a:t>
            </a:r>
          </a:p>
        </p:txBody>
      </p:sp>
      <p:cxnSp>
        <p:nvCxnSpPr>
          <p:cNvPr id="165" name=""/>
          <p:cNvCxnSpPr/>
          <p:nvPr/>
        </p:nvCxnSpPr>
        <p:spPr>
          <a:xfrm xmlns:a="http://schemas.openxmlformats.org/drawingml/2006/main">
            <a:off x="5962650" y="55626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27CE4B-3F29-4155-B839-BFB6776E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43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BLOQUEOS VISIBLES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531D1B8-E6AD-4AE3-8FE8-31F1107E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10250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917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Los impedimentos se detectan y atienden.</a:t>
            </a:r>
          </a:p>
        </p:txBody>
      </p:sp>
      <p:cxnSp>
        <p:nvCxnSpPr>
          <p:cNvPr id="168" name=""/>
          <p:cNvCxnSpPr/>
          <p:nvPr/>
        </p:nvCxnSpPr>
        <p:spPr>
          <a:xfrm xmlns:a="http://schemas.openxmlformats.org/drawingml/2006/main">
            <a:off x="8782050" y="55626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9C75F8E-6433-49C7-A09F-489FE2FF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543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19B6C"/>
                </a:solidFill>
              </a:defRPr>
            </a:pPr>
            <a:r>
              <a:rPr sz="1050" b="1" i="0">
                <a:solidFill>
                  <a:srgbClr val="219B6C"/>
                </a:solidFill>
              </a:rPr>
              <a:t>MEJORA CONTINUA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7114A68-A413-4E70-B83C-449F4D0B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810250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67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El flujo se revisa mediante métricas y cadencias.</a:t>
            </a:r>
          </a:p>
        </p:txBody>
      </p:sp>
    </p:spTree>
    <p:extLst>
      <p:ext uri="{BB962C8B-B14F-4D97-AF65-F5344CB8AC3E}">
        <p14:creationId xmlns:p14="http://schemas.microsoft.com/office/powerpoint/2010/main" val="9222440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8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AD0DBA-8BA8-4BDC-8452-DDC3F66F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14300"/>
            <a:ext cx="1762125" cy="1762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E9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0E560-768E-46A1-9AF3-1D06834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5816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7DA9F-F3DC-4BE8-BCE3-FD80D7D7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D9641-5741-42A0-B02D-61A27935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PROYECTO APT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31945-7952-4D43-BBC9-37503151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90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2F49"/>
                </a:solidFill>
              </a:defRPr>
            </a:pPr>
            <a:r>
              <a:rPr sz="3000" b="1" i="0">
                <a:solidFill>
                  <a:srgbClr val="0B2F49"/>
                </a:solidFill>
              </a:rPr>
              <a:t>Plan de trabajo: seis entregas incrementales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00050" y="1200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8E1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C5813-77A5-4D6A-A476-3ED095C7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6248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1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4c299926e4571"/>
          <a:srcRect xmlns:a="http://schemas.openxmlformats.org/drawingml/2006/main" l="0" t="2569" r="0" b="25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82300" y="6276975"/>
            <a:ext cx="266700" cy="295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52DA1-DE37-456E-A1E1-86B8ADB8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2937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DF0A33-0B12-4BBC-8364-8EBB591C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A8C98"/>
                </a:solidFill>
              </a:defRPr>
            </a:pPr>
            <a:r>
              <a:rPr sz="900" b="0" i="0">
                <a:solidFill>
                  <a:srgbClr val="7A8C98"/>
                </a:solidFill>
              </a:rPr>
              <a:t>G. Allende · C. Culipichun · P. Navarro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876300" y="3171825"/>
            <a:ext cx="104013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23F5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69F5C-CA2F-4E79-94BC-FB45734D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12E50-027F-4DF3-A489-B3F31DE2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36053-DDF5-4101-9F6E-D4EFCD50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85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11–30 AGO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581DC-3B05-44F4-987E-61E7482B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0097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Definición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A9B41-864A-4EE4-BDA5-D66B5A41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812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Visión, alcance, requisitos y tablero.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981075" y="26860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F8B44-7EF8-47D8-AB4E-F0E9227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B8C98-066A-4075-BF70-562DBBEA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8CF85-B18E-4C3C-9789-085458C5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90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31 AGO–27 SEP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8EE0C-0332-4928-8D80-7CDF98C6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Mapas y grafo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285A8-558F-45B5-8C53-A5CD313B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148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Niveles, POI, nodos y conexiones.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2905125" y="3448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E923C-C5E0-4D07-8470-F804C5D3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49C07-A465-462B-91A4-5E08D3FA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966C9C-385B-4997-A8C0-BC753072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685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28 SEP–25 OCT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09AE57-AF8D-4B5C-AFAF-F6C0CC1C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097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Base móvil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FB66E-8AA0-44BD-9431-53977164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Ionic/Angular, datos locales y sensores.</a:t>
            </a:r>
          </a:p>
        </p:txBody>
      </p:sp>
      <p:cxnSp>
        <p:nvCxnSpPr>
          <p:cNvPr id="78" name=""/>
          <p:cNvCxnSpPr/>
          <p:nvPr/>
        </p:nvCxnSpPr>
        <p:spPr>
          <a:xfrm xmlns:a="http://schemas.openxmlformats.org/drawingml/2006/main">
            <a:off x="4829175" y="26860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58FE37-8A04-4CE6-B449-BEBBA6EF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094979-4B24-454D-9382-284BC2D1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9C79E7-E9E9-4369-A052-FE9EAD71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90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26 OCT–22 NOV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636B75-CEB7-431E-84B5-44DD347A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Navegación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C57BC2-3F19-4691-9A0D-7035BA1E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A*, guía, recálculo, idiomas y offline.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>
            <a:off x="6753225" y="3448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44C7BF-AEF1-412F-8483-EE797766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12BFEA-8DF4-4E36-9700-0889CAC9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16FBDB-56DB-4D9E-9B18-AE4B1910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6859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23 NOV–13 DIC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77CEF6-7B20-4375-98AD-C89A5EE3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09775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Integración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B904B3-ED56-470F-943E-311B0B38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Pruebas funcionales, accesibilidad y piloto.</a:t>
            </a:r>
          </a:p>
        </p:txBody>
      </p:sp>
      <p:cxnSp>
        <p:nvCxnSpPr>
          <p:cNvPr id="90" name=""/>
          <p:cNvCxnSpPr/>
          <p:nvPr/>
        </p:nvCxnSpPr>
        <p:spPr>
          <a:xfrm xmlns:a="http://schemas.openxmlformats.org/drawingml/2006/main">
            <a:off x="8677275" y="268605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69574D-DBB9-4573-98B0-07F29913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9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9B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043877-3437-405E-8DE0-2E69143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14650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03E0F0-85D8-4B66-B84C-71A9E680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790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19B6C"/>
                </a:solidFill>
              </a:defRPr>
            </a:pPr>
            <a:r>
              <a:rPr sz="1050" b="1" i="0">
                <a:solidFill>
                  <a:srgbClr val="219B6C"/>
                </a:solidFill>
              </a:rPr>
              <a:t>14–20 DIC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DC13DA-36E8-4A9F-894F-352A3AF3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114800"/>
            <a:ext cx="1714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16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2F49"/>
                </a:solidFill>
              </a:defRPr>
            </a:pPr>
            <a:r>
              <a:rPr sz="1500" b="1" i="0">
                <a:solidFill>
                  <a:srgbClr val="0B2F49"/>
                </a:solidFill>
              </a:rPr>
              <a:t>Cierre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A207B0-449C-4CCB-8C43-CB970F3F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14850"/>
            <a:ext cx="18859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A7A"/>
                </a:solidFill>
              </a:defRPr>
            </a:pPr>
            <a:r>
              <a:rPr sz="1125" b="0" i="0">
                <a:solidFill>
                  <a:srgbClr val="526A7A"/>
                </a:solidFill>
              </a:rPr>
              <a:t>Estabilización, evidencias y entrega v1.0.</a:t>
            </a:r>
          </a:p>
        </p:txBody>
      </p:sp>
      <p:cxnSp>
        <p:nvCxnSpPr>
          <p:cNvPr id="96" name=""/>
          <p:cNvCxnSpPr/>
          <p:nvPr/>
        </p:nvCxnSpPr>
        <p:spPr>
          <a:xfrm xmlns:a="http://schemas.openxmlformats.org/drawingml/2006/main">
            <a:off x="10601325" y="3448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8E1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DFEFE9-0A44-48F1-9A1B-E5C1BA45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8204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DCE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001618-010D-46C7-A333-07A05FB3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1042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2F49"/>
                </a:solidFill>
              </a:defRPr>
            </a:pPr>
            <a:r>
              <a:rPr sz="1275" b="1" i="0">
                <a:solidFill>
                  <a:srgbClr val="0B2F49"/>
                </a:solidFill>
              </a:rPr>
              <a:t>Cadencias Kanban: sincronización breve diaria · reposición semanal · revisión de entrega semanal · retrospectiva de flujo quincenal.</a:t>
            </a:r>
          </a:p>
        </p:txBody>
      </p:sp>
    </p:spTree>
    <p:extLst>
      <p:ext uri="{BB962C8B-B14F-4D97-AF65-F5344CB8AC3E}">
        <p14:creationId xmlns:p14="http://schemas.microsoft.com/office/powerpoint/2010/main" val="5384022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1619D7-7610-4676-8BD2-30C7201F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D38D2-E18C-4C98-A742-0B5CED8B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"/>
            <a:ext cx="2266950" cy="2647950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EFF7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0314b49cd42d2"/>
          <a:stretch xmlns:a="http://schemas.openxmlformats.org/drawingml/2006/main"/>
        </p:blipFill>
        <p:spPr>
          <a:xfrm xmlns:a="http://schemas.openxmlformats.org/drawingml/2006/main">
            <a:off x="657225" y="663148"/>
            <a:ext cx="1981200" cy="231225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B9359-ACCC-4E1C-8D71-5B30BC86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28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NAVINSIDE ·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210DE-7C53-4926-8990-D4EAE8DF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71575"/>
            <a:ext cx="4095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FFFFF"/>
                </a:solidFill>
              </a:defRPr>
            </a:pPr>
            <a:r>
              <a:rPr sz="3675" b="1" i="0">
                <a:solidFill>
                  <a:srgbClr val="FFFFFF"/>
                </a:solidFill>
              </a:rPr>
              <a:t>De la desorientación</a:t>
            </a:r>
          </a:p>
          <a:p xmlns:a="http://schemas.openxmlformats.org/drawingml/2006/main">
            <a:pPr algn="l">
              <a:defRPr sz="3675" b="1" i="0">
                <a:solidFill>
                  <a:srgbClr val="FFFFFF"/>
                </a:solidFill>
              </a:defRPr>
            </a:pPr>
            <a:r>
              <a:rPr sz="3675" b="1" i="0">
                <a:solidFill>
                  <a:srgbClr val="FFFFFF"/>
                </a:solidFill>
              </a:rPr>
              <a:t>a la autonomía.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8648E-56C0-4791-A404-54480D13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6191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8E7EF"/>
                </a:solidFill>
              </a:defRPr>
            </a:pPr>
            <a:r>
              <a:rPr sz="1650" b="0" i="0">
                <a:solidFill>
                  <a:srgbClr val="D8E7EF"/>
                </a:solidFill>
              </a:rPr>
              <a:t>NavInside integra mapas, posicionamiento, rutas y accesibilidad para transformar la experiencia interior del resort sin depender de una conexión permanente.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A5DCB-E20D-4A05-B7C3-9C8DCF10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61436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00261-4780-4781-A877-B0A83B5E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19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2F49"/>
                </a:solidFill>
              </a:defRPr>
            </a:pPr>
            <a:r>
              <a:rPr sz="1575" b="1" i="0">
                <a:solidFill>
                  <a:srgbClr val="0B2F49"/>
                </a:solidFill>
              </a:rPr>
              <a:t>Resultado comprometido: NavInside v1.0 instalable, documentada y demostrable.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B7353-998D-4F05-8DF6-16C7CFBA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285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81B8AB-ACE7-46C4-99BB-CD87F456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30492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CEE45-98FC-416D-96D6-5134FF12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276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HUÉSPED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69E26-D3E8-4A9F-8220-BC654F37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6002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Más autonomía y orientación inclusiva.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4FA82-AE51-44FC-BC80-81B72AA9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638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7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B9B59-47F9-467F-B9CE-806BA7DB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657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95C8A-4D83-410F-9E08-1868D4C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28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OPERACIÓN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AB58E-351D-4A15-AC5A-9CC222B4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75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Menos dependencia del personal para consultas repetitivas.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18DB5-D15E-46F8-AC4D-8A7C68D1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990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46441-24CC-4BA8-8E10-E39815E7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01002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2F49"/>
                </a:solidFill>
              </a:defRPr>
            </a:pPr>
            <a:r>
              <a:rPr sz="1125" b="1" i="0">
                <a:solidFill>
                  <a:srgbClr val="0B2F49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34DAB7-57DF-439C-80AB-45D68336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981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9A45"/>
                </a:solidFill>
              </a:defRPr>
            </a:pPr>
            <a:r>
              <a:rPr sz="1050" b="1" i="0">
                <a:solidFill>
                  <a:srgbClr val="C99A45"/>
                </a:solidFill>
              </a:rPr>
              <a:t>EVOLUCIÓN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76859-CBAA-4048-91F8-B53E06E1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3053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Núcleo reutilizable para nuevos edificios y sedes.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7543800" y="5476875"/>
            <a:ext cx="39814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77088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675E0-A144-4AD6-A13F-806EB999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7690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5B7C6"/>
                </a:solidFill>
              </a:defRPr>
            </a:pPr>
            <a:r>
              <a:rPr sz="1050" b="1" i="0">
                <a:solidFill>
                  <a:srgbClr val="25B7C6"/>
                </a:solidFill>
              </a:rPr>
              <a:t>Siguiente hito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01A73-63D7-460F-AC38-0D49CF03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000750"/>
            <a:ext cx="398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0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Validar mapas, calibración y rutas en terreno.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DD937-6F73-4464-B6D4-7C51A015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1982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6D3"/>
                </a:solidFill>
              </a:defRPr>
            </a:pPr>
            <a:r>
              <a:rPr sz="1050" b="0" i="0">
                <a:solidFill>
                  <a:srgbClr val="AFC6D3"/>
                </a:solidFill>
              </a:rPr>
              <a:t>Gonzalo Allende · Cristian Culipichun · Pedro Navarro</a:t>
            </a:r>
          </a:p>
        </p:txBody>
      </p:sp>
    </p:spTree>
    <p:extLst>
      <p:ext uri="{BB962C8B-B14F-4D97-AF65-F5344CB8AC3E}">
        <p14:creationId xmlns:p14="http://schemas.microsoft.com/office/powerpoint/2010/main" val="1301427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2026-09-02T01:05:52.4900000Z</dcterms:created>
  <dcterms:modified xsi:type="dcterms:W3CDTF">2026-09-02T01:05:52.4900000Z</dcterms:modified>
</coreProperties>
</file>